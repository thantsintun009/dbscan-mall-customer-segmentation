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8288000" cy="10287000"/>
  <p:notesSz cx="6858000" cy="9144000"/>
  <p:embeddedFontLst>
    <p:embeddedFont>
      <p:font typeface="Bodoni FLF Bold" charset="1" panose="02000803080000020003"/>
      <p:regular r:id="rId34"/>
    </p:embeddedFont>
    <p:embeddedFont>
      <p:font typeface="TT Commons Pro" charset="1" panose="020B0103030102020204"/>
      <p:regular r:id="rId35"/>
    </p:embeddedFont>
    <p:embeddedFont>
      <p:font typeface="TT Commons Pro Bold" charset="1" panose="020B0103030102020204"/>
      <p:regular r:id="rId36"/>
    </p:embeddedFont>
    <p:embeddedFont>
      <p:font typeface="Calibri (MS) Bold" charset="1" panose="020F0702030404030204"/>
      <p:regular r:id="rId37"/>
    </p:embeddedFont>
    <p:embeddedFont>
      <p:font typeface="Calibri (MS)" charset="1" panose="020F0502020204030204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205693" y="8097924"/>
            <a:ext cx="4000480" cy="3549517"/>
          </a:xfrm>
          <a:custGeom>
            <a:avLst/>
            <a:gdLst/>
            <a:ahLst/>
            <a:cxnLst/>
            <a:rect r="r" b="b" t="t" l="l"/>
            <a:pathLst>
              <a:path h="3549517" w="4000480">
                <a:moveTo>
                  <a:pt x="4000480" y="0"/>
                </a:moveTo>
                <a:lnTo>
                  <a:pt x="0" y="0"/>
                </a:lnTo>
                <a:lnTo>
                  <a:pt x="0" y="3549516"/>
                </a:lnTo>
                <a:lnTo>
                  <a:pt x="4000480" y="3549516"/>
                </a:lnTo>
                <a:lnTo>
                  <a:pt x="400048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5498321" y="-1360440"/>
            <a:ext cx="3995372" cy="3544985"/>
          </a:xfrm>
          <a:custGeom>
            <a:avLst/>
            <a:gdLst/>
            <a:ahLst/>
            <a:cxnLst/>
            <a:rect r="r" b="b" t="t" l="l"/>
            <a:pathLst>
              <a:path h="3544985" w="3995372">
                <a:moveTo>
                  <a:pt x="0" y="3544984"/>
                </a:moveTo>
                <a:lnTo>
                  <a:pt x="3995372" y="3544984"/>
                </a:lnTo>
                <a:lnTo>
                  <a:pt x="3995372" y="0"/>
                </a:lnTo>
                <a:lnTo>
                  <a:pt x="0" y="0"/>
                </a:lnTo>
                <a:lnTo>
                  <a:pt x="0" y="354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205693" y="-1259583"/>
            <a:ext cx="3107909" cy="3119252"/>
          </a:xfrm>
          <a:custGeom>
            <a:avLst/>
            <a:gdLst/>
            <a:ahLst/>
            <a:cxnLst/>
            <a:rect r="r" b="b" t="t" l="l"/>
            <a:pathLst>
              <a:path h="3119252" w="3107909">
                <a:moveTo>
                  <a:pt x="0" y="0"/>
                </a:moveTo>
                <a:lnTo>
                  <a:pt x="3107909" y="0"/>
                </a:lnTo>
                <a:lnTo>
                  <a:pt x="3107909" y="3119251"/>
                </a:lnTo>
                <a:lnTo>
                  <a:pt x="0" y="31192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87908" y="1383641"/>
            <a:ext cx="15982560" cy="3570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000000"/>
                </a:solidFill>
                <a:latin typeface="Bodoni FLF Bold"/>
                <a:ea typeface="Bodoni FLF Bold"/>
                <a:cs typeface="Bodoni FLF Bold"/>
                <a:sym typeface="Bodoni FLF Bold"/>
              </a:rPr>
              <a:t>DBSCAN:</a:t>
            </a:r>
          </a:p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000000"/>
                </a:solidFill>
                <a:latin typeface="Bodoni FLF Bold"/>
                <a:ea typeface="Bodoni FLF Bold"/>
                <a:cs typeface="Bodoni FLF Bold"/>
                <a:sym typeface="Bodoni FLF Bold"/>
              </a:rPr>
              <a:t>DENSITY-BASED SPATIAL CLUSTERING OF APPLICATIONS WITH NOISE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447242" y="8489014"/>
            <a:ext cx="3046451" cy="3057570"/>
          </a:xfrm>
          <a:custGeom>
            <a:avLst/>
            <a:gdLst/>
            <a:ahLst/>
            <a:cxnLst/>
            <a:rect r="r" b="b" t="t" l="l"/>
            <a:pathLst>
              <a:path h="3057570" w="3046451">
                <a:moveTo>
                  <a:pt x="0" y="0"/>
                </a:moveTo>
                <a:lnTo>
                  <a:pt x="3046451" y="0"/>
                </a:lnTo>
                <a:lnTo>
                  <a:pt x="3046451" y="3057569"/>
                </a:lnTo>
                <a:lnTo>
                  <a:pt x="0" y="30575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130455" y="5143500"/>
            <a:ext cx="8979258" cy="1636452"/>
            <a:chOff x="0" y="0"/>
            <a:chExt cx="11972343" cy="2181936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1972343" cy="2181936"/>
              <a:chOff x="0" y="0"/>
              <a:chExt cx="1847584" cy="33671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847584" cy="336718"/>
              </a:xfrm>
              <a:custGeom>
                <a:avLst/>
                <a:gdLst/>
                <a:ahLst/>
                <a:cxnLst/>
                <a:rect r="r" b="b" t="t" l="l"/>
                <a:pathLst>
                  <a:path h="336718" w="1847584">
                    <a:moveTo>
                      <a:pt x="16840" y="0"/>
                    </a:moveTo>
                    <a:lnTo>
                      <a:pt x="1830744" y="0"/>
                    </a:lnTo>
                    <a:cubicBezTo>
                      <a:pt x="1840044" y="0"/>
                      <a:pt x="1847584" y="7539"/>
                      <a:pt x="1847584" y="16840"/>
                    </a:cubicBezTo>
                    <a:lnTo>
                      <a:pt x="1847584" y="319879"/>
                    </a:lnTo>
                    <a:cubicBezTo>
                      <a:pt x="1847584" y="329179"/>
                      <a:pt x="1840044" y="336718"/>
                      <a:pt x="1830744" y="336718"/>
                    </a:cubicBezTo>
                    <a:lnTo>
                      <a:pt x="16840" y="336718"/>
                    </a:lnTo>
                    <a:cubicBezTo>
                      <a:pt x="12374" y="336718"/>
                      <a:pt x="8090" y="334944"/>
                      <a:pt x="4932" y="331786"/>
                    </a:cubicBezTo>
                    <a:cubicBezTo>
                      <a:pt x="1774" y="328628"/>
                      <a:pt x="0" y="324345"/>
                      <a:pt x="0" y="319879"/>
                    </a:cubicBezTo>
                    <a:lnTo>
                      <a:pt x="0" y="16840"/>
                    </a:lnTo>
                    <a:cubicBezTo>
                      <a:pt x="0" y="7539"/>
                      <a:pt x="7539" y="0"/>
                      <a:pt x="16840" y="0"/>
                    </a:cubicBezTo>
                    <a:close/>
                  </a:path>
                </a:pathLst>
              </a:custGeom>
              <a:ln w="285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57150"/>
                <a:ext cx="1847584" cy="39386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455575" y="347288"/>
              <a:ext cx="11162434" cy="1235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79"/>
                </a:lnSpc>
              </a:pPr>
              <a:r>
                <a:rPr lang="en-US" sz="2700">
                  <a:solidFill>
                    <a:srgbClr val="000000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Peter Lin Mang, Eh Si Si, Hnin Ei Wai Lwin, Yin Min Han, Thant Sin Tun, May Thiri Phyoe, May Thaw Tar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28700"/>
            <a:ext cx="6664879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1007637"/>
            <a:ext cx="6664879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000000"/>
                </a:solidFill>
                <a:latin typeface="Bodoni FLF Bold"/>
                <a:ea typeface="Bodoni FLF Bold"/>
                <a:cs typeface="Bodoni FLF Bold"/>
                <a:sym typeface="Bodoni FLF Bold"/>
              </a:rPr>
              <a:t>TABLE OF CONTENT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527280" y="2738590"/>
            <a:ext cx="8332597" cy="5024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Clustering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DBSCAN Theory &amp; Parameters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2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DBSCAN Algorithm Steps &amp; Visualization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2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DBSCAN Implementation &amp; Deployment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2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Algorithm Comparison &amp; Key Findings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29320" y="8914352"/>
            <a:ext cx="687896" cy="687896"/>
            <a:chOff x="0" y="0"/>
            <a:chExt cx="917195" cy="91719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917195" cy="917195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66806" y="155131"/>
              <a:ext cx="783582" cy="559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2"/>
                </a:lnSpc>
              </a:pPr>
              <a:r>
                <a:rPr lang="en-US" b="true" sz="2544">
                  <a:solidFill>
                    <a:srgbClr val="FFFFFF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01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1028700" y="1028700"/>
            <a:ext cx="6664879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1432427"/>
            <a:ext cx="7708528" cy="4527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7"/>
              </a:lnSpc>
            </a:pPr>
            <a:r>
              <a:rPr lang="en-US" sz="2862" b="true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What is Clustering?</a:t>
            </a:r>
          </a:p>
          <a:p>
            <a:pPr algn="l">
              <a:lnSpc>
                <a:spcPts val="4007"/>
              </a:lnSpc>
            </a:pPr>
          </a:p>
          <a:p>
            <a:pPr algn="l" marL="618071" indent="-309035" lvl="1">
              <a:lnSpc>
                <a:spcPts val="4007"/>
              </a:lnSpc>
              <a:buFont typeface="Arial"/>
              <a:buChar char="•"/>
            </a:pPr>
            <a:r>
              <a:rPr lang="en-US" sz="28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class identification by measuring distance</a:t>
            </a:r>
          </a:p>
          <a:p>
            <a:pPr algn="l" marL="618071" indent="-309035" lvl="1">
              <a:lnSpc>
                <a:spcPts val="4007"/>
              </a:lnSpc>
              <a:buFont typeface="Arial"/>
              <a:buChar char="•"/>
            </a:pPr>
            <a:r>
              <a:rPr lang="en-US" sz="28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unsupervised learning</a:t>
            </a:r>
          </a:p>
          <a:p>
            <a:pPr algn="l" marL="618071" indent="-309035" lvl="1">
              <a:lnSpc>
                <a:spcPts val="4007"/>
              </a:lnSpc>
              <a:buFont typeface="Arial"/>
              <a:buChar char="•"/>
            </a:pPr>
            <a:r>
              <a:rPr lang="en-US" sz="28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grouping objects into subclasses automatically without manual labeling</a:t>
            </a:r>
          </a:p>
          <a:p>
            <a:pPr algn="l" marL="618071" indent="-309035" lvl="1">
              <a:lnSpc>
                <a:spcPts val="4007"/>
              </a:lnSpc>
              <a:buFont typeface="Arial"/>
              <a:buChar char="•"/>
            </a:pPr>
            <a:r>
              <a:rPr lang="en-US" sz="28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each cluster has a central point</a:t>
            </a:r>
          </a:p>
          <a:p>
            <a:pPr algn="l" marL="618071" indent="-309035" lvl="1">
              <a:lnSpc>
                <a:spcPts val="4007"/>
              </a:lnSpc>
              <a:buFont typeface="Arial"/>
              <a:buChar char="•"/>
            </a:pPr>
            <a:r>
              <a:rPr lang="en-US" sz="28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discovers hidden patterns, structures</a:t>
            </a:r>
          </a:p>
          <a:p>
            <a:pPr algn="l" marL="618071" indent="-309035" lvl="1">
              <a:lnSpc>
                <a:spcPts val="4007"/>
              </a:lnSpc>
              <a:buFont typeface="Arial"/>
              <a:buChar char="•"/>
            </a:pPr>
            <a:r>
              <a:rPr lang="en-US" sz="28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suitable for exploratory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350813"/>
            <a:ext cx="7708528" cy="3518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7"/>
              </a:lnSpc>
            </a:pPr>
            <a:r>
              <a:rPr lang="en-US" sz="2862" b="true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Requirements for clustering algorithm</a:t>
            </a:r>
          </a:p>
          <a:p>
            <a:pPr algn="l">
              <a:lnSpc>
                <a:spcPts val="4007"/>
              </a:lnSpc>
            </a:pPr>
          </a:p>
          <a:p>
            <a:pPr algn="l" marL="618071" indent="-309035" lvl="1">
              <a:lnSpc>
                <a:spcPts val="4007"/>
              </a:lnSpc>
              <a:buFont typeface="Arial"/>
              <a:buChar char="•"/>
            </a:pPr>
            <a:r>
              <a:rPr lang="en-US" sz="28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the right parameters are needed</a:t>
            </a:r>
          </a:p>
          <a:p>
            <a:pPr algn="l" marL="618071" indent="-309035" lvl="1">
              <a:lnSpc>
                <a:spcPts val="4007"/>
              </a:lnSpc>
              <a:buFont typeface="Arial"/>
              <a:buChar char="•"/>
            </a:pPr>
            <a:r>
              <a:rPr lang="en-US" sz="28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finding clusters of arbitrary shape, not only circles/shperes</a:t>
            </a:r>
          </a:p>
          <a:p>
            <a:pPr algn="l" marL="618071" indent="-309035" lvl="1">
              <a:lnSpc>
                <a:spcPts val="4007"/>
              </a:lnSpc>
              <a:buFont typeface="Arial"/>
              <a:buChar char="•"/>
            </a:pPr>
            <a:r>
              <a:rPr lang="en-US" sz="28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efficiency on large databases, for example, thousands of points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300571" y="1028700"/>
            <a:ext cx="8281735" cy="7885652"/>
          </a:xfrm>
          <a:custGeom>
            <a:avLst/>
            <a:gdLst/>
            <a:ahLst/>
            <a:cxnLst/>
            <a:rect r="r" b="b" t="t" l="l"/>
            <a:pathLst>
              <a:path h="7885652" w="8281735">
                <a:moveTo>
                  <a:pt x="0" y="0"/>
                </a:moveTo>
                <a:lnTo>
                  <a:pt x="8281735" y="0"/>
                </a:lnTo>
                <a:lnTo>
                  <a:pt x="8281735" y="7885652"/>
                </a:lnTo>
                <a:lnTo>
                  <a:pt x="0" y="78856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28700"/>
            <a:ext cx="6664879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grpSp>
        <p:nvGrpSpPr>
          <p:cNvPr name="Group 3" id="3"/>
          <p:cNvGrpSpPr/>
          <p:nvPr/>
        </p:nvGrpSpPr>
        <p:grpSpPr>
          <a:xfrm rot="0">
            <a:off x="16629320" y="8914352"/>
            <a:ext cx="687896" cy="687896"/>
            <a:chOff x="0" y="0"/>
            <a:chExt cx="917195" cy="917195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17195" cy="917195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66806" y="155131"/>
              <a:ext cx="783582" cy="559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2"/>
                </a:lnSpc>
              </a:pPr>
              <a:r>
                <a:rPr lang="en-US" sz="2544" b="true">
                  <a:solidFill>
                    <a:srgbClr val="FFFFFF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02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144000" y="1028700"/>
            <a:ext cx="8438306" cy="6605327"/>
          </a:xfrm>
          <a:custGeom>
            <a:avLst/>
            <a:gdLst/>
            <a:ahLst/>
            <a:cxnLst/>
            <a:rect r="r" b="b" t="t" l="l"/>
            <a:pathLst>
              <a:path h="6605327" w="8438306">
                <a:moveTo>
                  <a:pt x="0" y="0"/>
                </a:moveTo>
                <a:lnTo>
                  <a:pt x="8438306" y="0"/>
                </a:lnTo>
                <a:lnTo>
                  <a:pt x="8438306" y="6605327"/>
                </a:lnTo>
                <a:lnTo>
                  <a:pt x="0" y="66053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307216"/>
            <a:ext cx="8855518" cy="2323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7"/>
              </a:lnSpc>
            </a:pPr>
            <a:r>
              <a:rPr lang="en-US" sz="2662" b="true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Why is Clustering Important?</a:t>
            </a:r>
          </a:p>
          <a:p>
            <a:pPr algn="l">
              <a:lnSpc>
                <a:spcPts val="3727"/>
              </a:lnSpc>
            </a:pPr>
            <a:r>
              <a:rPr lang="en-US" sz="26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Clustering is used when:</a:t>
            </a:r>
          </a:p>
          <a:p>
            <a:pPr algn="l" marL="574892" indent="-287446" lvl="1">
              <a:lnSpc>
                <a:spcPts val="3727"/>
              </a:lnSpc>
              <a:buFont typeface="Arial"/>
              <a:buChar char="•"/>
            </a:pPr>
            <a:r>
              <a:rPr lang="en-US" sz="26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There are no</a:t>
            </a:r>
            <a:r>
              <a:rPr lang="en-US" sz="26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labels</a:t>
            </a:r>
          </a:p>
          <a:p>
            <a:pPr algn="l" marL="574892" indent="-287446" lvl="1">
              <a:lnSpc>
                <a:spcPts val="3727"/>
              </a:lnSpc>
              <a:buFont typeface="Arial"/>
              <a:buChar char="•"/>
            </a:pPr>
            <a:r>
              <a:rPr lang="en-US" sz="26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We want to explore data structure</a:t>
            </a:r>
          </a:p>
          <a:p>
            <a:pPr algn="l" marL="574892" indent="-287446" lvl="1">
              <a:lnSpc>
                <a:spcPts val="3727"/>
              </a:lnSpc>
              <a:buFont typeface="Arial"/>
              <a:buChar char="•"/>
            </a:pPr>
            <a:r>
              <a:rPr lang="en-US" sz="26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We need to simplify or summarize datasets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912080"/>
            <a:ext cx="9609499" cy="5088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82"/>
              </a:lnSpc>
            </a:pPr>
            <a:r>
              <a:rPr lang="en-US" sz="3262" b="true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Types of Clustering Methods</a:t>
            </a:r>
          </a:p>
          <a:p>
            <a:pPr algn="l">
              <a:lnSpc>
                <a:spcPts val="5270"/>
              </a:lnSpc>
            </a:pPr>
            <a:r>
              <a:rPr lang="en-US" sz="2462" b="true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1. Partitioning Methods</a:t>
            </a:r>
          </a:p>
          <a:p>
            <a:pPr algn="l">
              <a:lnSpc>
                <a:spcPts val="5270"/>
              </a:lnSpc>
            </a:pPr>
            <a:r>
              <a:rPr lang="en-US" sz="2462" b="true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These divide data into K predefined clusters.</a:t>
            </a:r>
          </a:p>
          <a:p>
            <a:pPr algn="l">
              <a:lnSpc>
                <a:spcPts val="5270"/>
              </a:lnSpc>
            </a:pPr>
            <a:r>
              <a:rPr lang="en-US" sz="2462" b="true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K-Means </a:t>
            </a:r>
            <a:r>
              <a:rPr lang="en-US" sz="2462" b="true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Clustering</a:t>
            </a:r>
          </a:p>
          <a:p>
            <a:pPr algn="l" marL="531713" indent="-265857" lvl="1">
              <a:lnSpc>
                <a:spcPts val="3447"/>
              </a:lnSpc>
              <a:buFont typeface="Arial"/>
              <a:buChar char="•"/>
            </a:pPr>
            <a:r>
              <a:rPr lang="en-US" sz="24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Chooses K cent</a:t>
            </a:r>
            <a:r>
              <a:rPr lang="en-US" sz="24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roids and assigns points</a:t>
            </a:r>
            <a:r>
              <a:rPr lang="en-US" sz="24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based on distance</a:t>
            </a:r>
          </a:p>
          <a:p>
            <a:pPr algn="l" marL="531713" indent="-265857" lvl="1">
              <a:lnSpc>
                <a:spcPts val="3447"/>
              </a:lnSpc>
              <a:buFont typeface="Arial"/>
              <a:buChar char="•"/>
            </a:pPr>
            <a:r>
              <a:rPr lang="en-US" sz="24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Pick K initial centroids</a:t>
            </a:r>
          </a:p>
          <a:p>
            <a:pPr algn="l" marL="531713" indent="-265857" lvl="1">
              <a:lnSpc>
                <a:spcPts val="3447"/>
              </a:lnSpc>
              <a:buFont typeface="Arial"/>
              <a:buChar char="•"/>
            </a:pPr>
            <a:r>
              <a:rPr lang="en-US" sz="24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Assign points to nearest centroid</a:t>
            </a:r>
          </a:p>
          <a:p>
            <a:pPr algn="l" marL="531713" indent="-265857" lvl="1">
              <a:lnSpc>
                <a:spcPts val="3447"/>
              </a:lnSpc>
              <a:buFont typeface="Arial"/>
              <a:buChar char="•"/>
            </a:pPr>
            <a:r>
              <a:rPr lang="en-US" sz="24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Pros: Simple and fast</a:t>
            </a:r>
          </a:p>
          <a:p>
            <a:pPr algn="l" marL="531713" indent="-265857" lvl="1">
              <a:lnSpc>
                <a:spcPts val="3447"/>
              </a:lnSpc>
              <a:buFont typeface="Arial"/>
              <a:buChar char="•"/>
            </a:pPr>
            <a:r>
              <a:rPr lang="en-US" sz="24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Cons: Need to choose K, Sensitive to outliers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28700"/>
            <a:ext cx="6664879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grpSp>
        <p:nvGrpSpPr>
          <p:cNvPr name="Group 3" id="3"/>
          <p:cNvGrpSpPr/>
          <p:nvPr/>
        </p:nvGrpSpPr>
        <p:grpSpPr>
          <a:xfrm rot="0">
            <a:off x="16629320" y="8914352"/>
            <a:ext cx="687896" cy="687896"/>
            <a:chOff x="0" y="0"/>
            <a:chExt cx="917195" cy="917195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17195" cy="917195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66806" y="155131"/>
              <a:ext cx="783582" cy="559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2"/>
                </a:lnSpc>
              </a:pPr>
              <a:r>
                <a:rPr lang="en-US" sz="2544" b="true">
                  <a:solidFill>
                    <a:srgbClr val="FFFFFF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03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371754" y="1813203"/>
            <a:ext cx="11301259" cy="5650629"/>
          </a:xfrm>
          <a:custGeom>
            <a:avLst/>
            <a:gdLst/>
            <a:ahLst/>
            <a:cxnLst/>
            <a:rect r="r" b="b" t="t" l="l"/>
            <a:pathLst>
              <a:path h="5650629" w="11301259">
                <a:moveTo>
                  <a:pt x="0" y="0"/>
                </a:moveTo>
                <a:lnTo>
                  <a:pt x="11301259" y="0"/>
                </a:lnTo>
                <a:lnTo>
                  <a:pt x="11301259" y="5650630"/>
                </a:lnTo>
                <a:lnTo>
                  <a:pt x="0" y="56506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408771"/>
            <a:ext cx="10288297" cy="4280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56"/>
              </a:lnSpc>
            </a:pPr>
            <a:r>
              <a:rPr lang="en-US" sz="3462" b="true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2. Hierarchical Clustering</a:t>
            </a:r>
          </a:p>
          <a:p>
            <a:pPr algn="l">
              <a:lnSpc>
                <a:spcPts val="6656"/>
              </a:lnSpc>
            </a:pPr>
            <a:r>
              <a:rPr lang="en-US" sz="2662" b="true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Builds a tree-like structure (dendrogram)</a:t>
            </a:r>
          </a:p>
          <a:p>
            <a:pPr algn="l">
              <a:lnSpc>
                <a:spcPts val="6656"/>
              </a:lnSpc>
            </a:pPr>
            <a:r>
              <a:rPr lang="en-US" sz="2662" b="true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Two types:</a:t>
            </a:r>
          </a:p>
          <a:p>
            <a:pPr algn="l" marL="574892" indent="-287446" lvl="1">
              <a:lnSpc>
                <a:spcPts val="3727"/>
              </a:lnSpc>
              <a:buFont typeface="Arial"/>
              <a:buChar char="•"/>
            </a:pPr>
            <a:r>
              <a:rPr lang="en-US" sz="26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Agglomerative (bottom-up) → start with individual points</a:t>
            </a:r>
          </a:p>
          <a:p>
            <a:pPr algn="l" marL="574892" indent="-287446" lvl="1">
              <a:lnSpc>
                <a:spcPts val="3727"/>
              </a:lnSpc>
              <a:buFont typeface="Arial"/>
              <a:buChar char="•"/>
            </a:pPr>
            <a:r>
              <a:rPr lang="en-US" sz="26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Divisive (top-down) → start with one cluster</a:t>
            </a:r>
          </a:p>
          <a:p>
            <a:pPr algn="l" marL="574892" indent="-287446" lvl="1">
              <a:lnSpc>
                <a:spcPts val="3727"/>
              </a:lnSpc>
              <a:buFont typeface="Arial"/>
              <a:buChar char="•"/>
            </a:pPr>
            <a:r>
              <a:rPr lang="en-US" sz="26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Merge or split based on distance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28700"/>
            <a:ext cx="6664879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grpSp>
        <p:nvGrpSpPr>
          <p:cNvPr name="Group 3" id="3"/>
          <p:cNvGrpSpPr/>
          <p:nvPr/>
        </p:nvGrpSpPr>
        <p:grpSpPr>
          <a:xfrm rot="0">
            <a:off x="16629320" y="8914352"/>
            <a:ext cx="687896" cy="687896"/>
            <a:chOff x="0" y="0"/>
            <a:chExt cx="917195" cy="917195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17195" cy="917195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66806" y="155131"/>
              <a:ext cx="783582" cy="559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2"/>
                </a:lnSpc>
              </a:pPr>
              <a:r>
                <a:rPr lang="en-US" sz="2544" b="true">
                  <a:solidFill>
                    <a:srgbClr val="FFFFFF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04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664764" y="1516564"/>
            <a:ext cx="7080951" cy="7080951"/>
          </a:xfrm>
          <a:custGeom>
            <a:avLst/>
            <a:gdLst/>
            <a:ahLst/>
            <a:cxnLst/>
            <a:rect r="r" b="b" t="t" l="l"/>
            <a:pathLst>
              <a:path h="7080951" w="7080951">
                <a:moveTo>
                  <a:pt x="0" y="0"/>
                </a:moveTo>
                <a:lnTo>
                  <a:pt x="7080952" y="0"/>
                </a:lnTo>
                <a:lnTo>
                  <a:pt x="7080952" y="7080951"/>
                </a:lnTo>
                <a:lnTo>
                  <a:pt x="0" y="70809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685642"/>
            <a:ext cx="8855518" cy="4280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56"/>
              </a:lnSpc>
            </a:pPr>
            <a:r>
              <a:rPr lang="en-US" sz="3462" b="true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3. Density-Based Clustering</a:t>
            </a:r>
          </a:p>
          <a:p>
            <a:pPr algn="l">
              <a:lnSpc>
                <a:spcPts val="6656"/>
              </a:lnSpc>
            </a:pPr>
            <a:r>
              <a:rPr lang="en-US" sz="2662" b="true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Groups points based on dense regions</a:t>
            </a:r>
          </a:p>
          <a:p>
            <a:pPr algn="l">
              <a:lnSpc>
                <a:spcPts val="6656"/>
              </a:lnSpc>
            </a:pPr>
            <a:r>
              <a:rPr lang="en-US" sz="2662" b="true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DBSCAN</a:t>
            </a:r>
          </a:p>
          <a:p>
            <a:pPr algn="l" marL="574892" indent="-287446" lvl="1">
              <a:lnSpc>
                <a:spcPts val="3727"/>
              </a:lnSpc>
              <a:buFont typeface="Arial"/>
              <a:buChar char="•"/>
            </a:pPr>
            <a:r>
              <a:rPr lang="en-US" sz="26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Finds clusters of arbitrary shapes</a:t>
            </a:r>
          </a:p>
          <a:p>
            <a:pPr algn="l" marL="574892" indent="-287446" lvl="1">
              <a:lnSpc>
                <a:spcPts val="3727"/>
              </a:lnSpc>
              <a:buFont typeface="Arial"/>
              <a:buChar char="•"/>
            </a:pPr>
            <a:r>
              <a:rPr lang="en-US" sz="26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Identifies noise (outliers)</a:t>
            </a:r>
          </a:p>
          <a:p>
            <a:pPr algn="l" marL="574892" indent="-287446" lvl="1">
              <a:lnSpc>
                <a:spcPts val="3727"/>
              </a:lnSpc>
              <a:buFont typeface="Arial"/>
              <a:buChar char="•"/>
            </a:pPr>
            <a:r>
              <a:rPr lang="en-US" sz="26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Pros: Handles noise well, No need to specify K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29320" y="8914352"/>
            <a:ext cx="687896" cy="687896"/>
            <a:chOff x="0" y="0"/>
            <a:chExt cx="917195" cy="91719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917195" cy="917195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66806" y="155131"/>
              <a:ext cx="783582" cy="559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2"/>
                </a:lnSpc>
              </a:pPr>
              <a:r>
                <a:rPr lang="en-US" sz="2544" b="true">
                  <a:solidFill>
                    <a:srgbClr val="FFFFFF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05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1028700" y="1028700"/>
            <a:ext cx="6664879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5072007" y="6092639"/>
            <a:ext cx="7403369" cy="3299011"/>
          </a:xfrm>
          <a:custGeom>
            <a:avLst/>
            <a:gdLst/>
            <a:ahLst/>
            <a:cxnLst/>
            <a:rect r="r" b="b" t="t" l="l"/>
            <a:pathLst>
              <a:path h="3299011" w="7403369">
                <a:moveTo>
                  <a:pt x="0" y="0"/>
                </a:moveTo>
                <a:lnTo>
                  <a:pt x="7403369" y="0"/>
                </a:lnTo>
                <a:lnTo>
                  <a:pt x="7403369" y="3299011"/>
                </a:lnTo>
                <a:lnTo>
                  <a:pt x="0" y="32990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15640" y="2189230"/>
            <a:ext cx="13903401" cy="2003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07"/>
              </a:lnSpc>
            </a:pPr>
            <a:r>
              <a:rPr lang="en-US" sz="28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DBSCAN is a density-based clustering alg</a:t>
            </a:r>
            <a:r>
              <a:rPr lang="en-US" sz="28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orithm that </a:t>
            </a:r>
            <a:r>
              <a:rPr lang="en-US" b="true" sz="2862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groups data points that are closely packed together</a:t>
            </a:r>
            <a:r>
              <a:rPr lang="en-US" sz="28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and </a:t>
            </a:r>
            <a:r>
              <a:rPr lang="en-US" b="true" sz="2862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marks outliers as noise</a:t>
            </a:r>
            <a:r>
              <a:rPr lang="en-US" sz="28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based on their </a:t>
            </a:r>
            <a:r>
              <a:rPr lang="en-US" b="true" sz="2862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density </a:t>
            </a:r>
            <a:r>
              <a:rPr lang="en-US" sz="28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in the feature space. It identifies clusters as dense regions in the data space separated by areas of lower density.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007637"/>
            <a:ext cx="3223668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000000"/>
                </a:solidFill>
                <a:latin typeface="Bodoni FLF Bold"/>
                <a:ea typeface="Bodoni FLF Bold"/>
                <a:cs typeface="Bodoni FLF Bold"/>
                <a:sym typeface="Bodoni FLF Bold"/>
              </a:rPr>
              <a:t>THEORY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92376" y="4467919"/>
            <a:ext cx="15094559" cy="2003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18071" indent="-309035" lvl="1">
              <a:lnSpc>
                <a:spcPts val="4007"/>
              </a:lnSpc>
              <a:buFont typeface="Arial"/>
              <a:buChar char="•"/>
            </a:pPr>
            <a:r>
              <a:rPr lang="en-US" b="true" sz="2862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The Problem with K-Means:</a:t>
            </a:r>
            <a:r>
              <a:rPr lang="en-US" sz="28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Assumes spherical</a:t>
            </a:r>
            <a:r>
              <a:rPr lang="en-US" sz="28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shapes; requires guessing "K"; sensitive to outliers.</a:t>
            </a:r>
          </a:p>
          <a:p>
            <a:pPr algn="just" marL="618071" indent="-309035" lvl="1">
              <a:lnSpc>
                <a:spcPts val="4007"/>
              </a:lnSpc>
              <a:buFont typeface="Arial"/>
              <a:buChar char="•"/>
            </a:pPr>
            <a:r>
              <a:rPr lang="en-US" b="true" sz="2862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The DBSCAN Solution:</a:t>
            </a:r>
            <a:r>
              <a:rPr lang="en-US" sz="28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Clusters are high-density areas separated by low-density areas (noise).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534499" y="6173792"/>
            <a:ext cx="96071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59"/>
              </a:lnSpc>
            </a:pPr>
            <a:r>
              <a:rPr lang="en-US" sz="1399" b="true">
                <a:solidFill>
                  <a:srgbClr val="34B166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low-density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28040" y="6640768"/>
            <a:ext cx="103501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59"/>
              </a:lnSpc>
            </a:pPr>
            <a:r>
              <a:rPr lang="en-US" b="true" sz="1399">
                <a:solidFill>
                  <a:srgbClr val="6FB7F7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high-density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07637"/>
            <a:ext cx="7033668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000000"/>
                </a:solidFill>
                <a:latin typeface="Bodoni FLF Bold"/>
                <a:ea typeface="Bodoni FLF Bold"/>
                <a:cs typeface="Bodoni FLF Bold"/>
                <a:sym typeface="Bodoni FLF Bold"/>
              </a:rPr>
              <a:t>CORE PARAMETER</a:t>
            </a:r>
          </a:p>
        </p:txBody>
      </p:sp>
      <p:sp>
        <p:nvSpPr>
          <p:cNvPr name="AutoShape 3" id="3"/>
          <p:cNvSpPr/>
          <p:nvPr/>
        </p:nvSpPr>
        <p:spPr>
          <a:xfrm>
            <a:off x="1028700" y="1028700"/>
            <a:ext cx="6664879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3088770"/>
            <a:ext cx="7611043" cy="6169530"/>
            <a:chOff x="0" y="0"/>
            <a:chExt cx="1566058" cy="12694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66058" cy="1269451"/>
            </a:xfrm>
            <a:custGeom>
              <a:avLst/>
              <a:gdLst/>
              <a:ahLst/>
              <a:cxnLst/>
              <a:rect r="r" b="b" t="t" l="l"/>
              <a:pathLst>
                <a:path h="1269451" w="1566058">
                  <a:moveTo>
                    <a:pt x="19867" y="0"/>
                  </a:moveTo>
                  <a:lnTo>
                    <a:pt x="1546191" y="0"/>
                  </a:lnTo>
                  <a:cubicBezTo>
                    <a:pt x="1551460" y="0"/>
                    <a:pt x="1556513" y="2093"/>
                    <a:pt x="1560239" y="5819"/>
                  </a:cubicBezTo>
                  <a:cubicBezTo>
                    <a:pt x="1563965" y="9545"/>
                    <a:pt x="1566058" y="14598"/>
                    <a:pt x="1566058" y="19867"/>
                  </a:cubicBezTo>
                  <a:lnTo>
                    <a:pt x="1566058" y="1249584"/>
                  </a:lnTo>
                  <a:cubicBezTo>
                    <a:pt x="1566058" y="1254853"/>
                    <a:pt x="1563965" y="1259906"/>
                    <a:pt x="1560239" y="1263632"/>
                  </a:cubicBezTo>
                  <a:cubicBezTo>
                    <a:pt x="1556513" y="1267358"/>
                    <a:pt x="1551460" y="1269451"/>
                    <a:pt x="1546191" y="1269451"/>
                  </a:cubicBezTo>
                  <a:lnTo>
                    <a:pt x="19867" y="1269451"/>
                  </a:lnTo>
                  <a:cubicBezTo>
                    <a:pt x="14598" y="1269451"/>
                    <a:pt x="9545" y="1267358"/>
                    <a:pt x="5819" y="1263632"/>
                  </a:cubicBezTo>
                  <a:cubicBezTo>
                    <a:pt x="2093" y="1259906"/>
                    <a:pt x="0" y="1254853"/>
                    <a:pt x="0" y="1249584"/>
                  </a:cubicBezTo>
                  <a:lnTo>
                    <a:pt x="0" y="19867"/>
                  </a:lnTo>
                  <a:cubicBezTo>
                    <a:pt x="0" y="14598"/>
                    <a:pt x="2093" y="9545"/>
                    <a:pt x="5819" y="5819"/>
                  </a:cubicBezTo>
                  <a:cubicBezTo>
                    <a:pt x="9545" y="2093"/>
                    <a:pt x="14598" y="0"/>
                    <a:pt x="19867" y="0"/>
                  </a:cubicBezTo>
                  <a:close/>
                </a:path>
              </a:pathLst>
            </a:custGeom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66058" cy="1307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391064" y="3334948"/>
            <a:ext cx="6886315" cy="5537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7"/>
              </a:lnSpc>
            </a:pPr>
            <a:r>
              <a:rPr lang="en-US" sz="28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The radius of the neighb</a:t>
            </a:r>
            <a:r>
              <a:rPr lang="en-US" sz="28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orhood around a data point</a:t>
            </a:r>
          </a:p>
          <a:p>
            <a:pPr algn="l" marL="618071" indent="-309035" lvl="1">
              <a:lnSpc>
                <a:spcPts val="4007"/>
              </a:lnSpc>
              <a:buFont typeface="Arial"/>
              <a:buChar char="•"/>
            </a:pPr>
            <a:r>
              <a:rPr lang="en-US" sz="28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If one point is within this distance from another, they are considered neighbors.</a:t>
            </a:r>
          </a:p>
          <a:p>
            <a:pPr algn="l">
              <a:lnSpc>
                <a:spcPts val="4007"/>
              </a:lnSpc>
            </a:pPr>
          </a:p>
          <a:p>
            <a:pPr algn="l" marL="618071" indent="-309035" lvl="1">
              <a:lnSpc>
                <a:spcPts val="4007"/>
              </a:lnSpc>
              <a:buFont typeface="Arial"/>
              <a:buChar char="•"/>
            </a:pPr>
            <a:r>
              <a:rPr lang="en-US" sz="28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Too Small → Fragmentation (Noise everywhere).</a:t>
            </a:r>
          </a:p>
          <a:p>
            <a:pPr algn="l" marL="618071" indent="-309035" lvl="1">
              <a:lnSpc>
                <a:spcPts val="4007"/>
              </a:lnSpc>
              <a:buFont typeface="Arial"/>
              <a:buChar char="•"/>
            </a:pPr>
            <a:r>
              <a:rPr lang="en-US" sz="28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Too Large → Collapse (Everything merges).</a:t>
            </a:r>
          </a:p>
          <a:p>
            <a:pPr algn="l">
              <a:lnSpc>
                <a:spcPts val="4007"/>
              </a:lnSpc>
            </a:pPr>
          </a:p>
          <a:p>
            <a:pPr algn="l">
              <a:lnSpc>
                <a:spcPts val="4007"/>
              </a:lnSpc>
            </a:pPr>
            <a:r>
              <a:rPr lang="en-US" sz="28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Look for the "elbow" in the k-distance graph.</a:t>
            </a:r>
          </a:p>
        </p:txBody>
      </p:sp>
      <p:sp>
        <p:nvSpPr>
          <p:cNvPr name="AutoShape 8" id="8"/>
          <p:cNvSpPr/>
          <p:nvPr/>
        </p:nvSpPr>
        <p:spPr>
          <a:xfrm>
            <a:off x="3629634" y="2614194"/>
            <a:ext cx="2683516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9" id="9"/>
          <p:cNvSpPr txBox="true"/>
          <p:nvPr/>
        </p:nvSpPr>
        <p:spPr>
          <a:xfrm rot="0">
            <a:off x="1391064" y="2280664"/>
            <a:ext cx="2238570" cy="571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07"/>
              </a:lnSpc>
            </a:pPr>
            <a:r>
              <a:rPr lang="en-US" b="true" sz="3362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Epsilon (ε)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782432" y="3392098"/>
            <a:ext cx="6733437" cy="4832814"/>
          </a:xfrm>
          <a:custGeom>
            <a:avLst/>
            <a:gdLst/>
            <a:ahLst/>
            <a:cxnLst/>
            <a:rect r="r" b="b" t="t" l="l"/>
            <a:pathLst>
              <a:path h="4832814" w="6733437">
                <a:moveTo>
                  <a:pt x="0" y="0"/>
                </a:moveTo>
                <a:lnTo>
                  <a:pt x="6733438" y="0"/>
                </a:lnTo>
                <a:lnTo>
                  <a:pt x="6733438" y="4832814"/>
                </a:lnTo>
                <a:lnTo>
                  <a:pt x="0" y="48328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380" t="0" r="-22798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629320" y="8914352"/>
            <a:ext cx="687896" cy="687896"/>
            <a:chOff x="0" y="0"/>
            <a:chExt cx="917195" cy="917195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917195" cy="917195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66806" y="155131"/>
              <a:ext cx="783582" cy="559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2"/>
                </a:lnSpc>
              </a:pPr>
              <a:r>
                <a:rPr lang="en-US" sz="2544" b="true">
                  <a:solidFill>
                    <a:srgbClr val="FFFFFF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07637"/>
            <a:ext cx="7033668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000000"/>
                </a:solidFill>
                <a:latin typeface="Bodoni FLF Bold"/>
                <a:ea typeface="Bodoni FLF Bold"/>
                <a:cs typeface="Bodoni FLF Bold"/>
                <a:sym typeface="Bodoni FLF Bold"/>
              </a:rPr>
              <a:t>CORE PARAMETER</a:t>
            </a:r>
          </a:p>
        </p:txBody>
      </p:sp>
      <p:sp>
        <p:nvSpPr>
          <p:cNvPr name="AutoShape 3" id="3"/>
          <p:cNvSpPr/>
          <p:nvPr/>
        </p:nvSpPr>
        <p:spPr>
          <a:xfrm>
            <a:off x="1028700" y="1028700"/>
            <a:ext cx="6664879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3088770"/>
            <a:ext cx="7611043" cy="3698179"/>
            <a:chOff x="0" y="0"/>
            <a:chExt cx="1566058" cy="7609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66058" cy="760942"/>
            </a:xfrm>
            <a:custGeom>
              <a:avLst/>
              <a:gdLst/>
              <a:ahLst/>
              <a:cxnLst/>
              <a:rect r="r" b="b" t="t" l="l"/>
              <a:pathLst>
                <a:path h="760942" w="1566058">
                  <a:moveTo>
                    <a:pt x="19867" y="0"/>
                  </a:moveTo>
                  <a:lnTo>
                    <a:pt x="1546191" y="0"/>
                  </a:lnTo>
                  <a:cubicBezTo>
                    <a:pt x="1551460" y="0"/>
                    <a:pt x="1556513" y="2093"/>
                    <a:pt x="1560239" y="5819"/>
                  </a:cubicBezTo>
                  <a:cubicBezTo>
                    <a:pt x="1563965" y="9545"/>
                    <a:pt x="1566058" y="14598"/>
                    <a:pt x="1566058" y="19867"/>
                  </a:cubicBezTo>
                  <a:lnTo>
                    <a:pt x="1566058" y="741075"/>
                  </a:lnTo>
                  <a:cubicBezTo>
                    <a:pt x="1566058" y="746344"/>
                    <a:pt x="1563965" y="751397"/>
                    <a:pt x="1560239" y="755123"/>
                  </a:cubicBezTo>
                  <a:cubicBezTo>
                    <a:pt x="1556513" y="758849"/>
                    <a:pt x="1551460" y="760942"/>
                    <a:pt x="1546191" y="760942"/>
                  </a:cubicBezTo>
                  <a:lnTo>
                    <a:pt x="19867" y="760942"/>
                  </a:lnTo>
                  <a:cubicBezTo>
                    <a:pt x="14598" y="760942"/>
                    <a:pt x="9545" y="758849"/>
                    <a:pt x="5819" y="755123"/>
                  </a:cubicBezTo>
                  <a:cubicBezTo>
                    <a:pt x="2093" y="751397"/>
                    <a:pt x="0" y="746344"/>
                    <a:pt x="0" y="741075"/>
                  </a:cubicBezTo>
                  <a:lnTo>
                    <a:pt x="0" y="19867"/>
                  </a:lnTo>
                  <a:cubicBezTo>
                    <a:pt x="0" y="14598"/>
                    <a:pt x="2093" y="9545"/>
                    <a:pt x="5819" y="5819"/>
                  </a:cubicBezTo>
                  <a:cubicBezTo>
                    <a:pt x="9545" y="2093"/>
                    <a:pt x="14598" y="0"/>
                    <a:pt x="19867" y="0"/>
                  </a:cubicBezTo>
                  <a:close/>
                </a:path>
              </a:pathLst>
            </a:custGeom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66058" cy="799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391064" y="3334948"/>
            <a:ext cx="6886315" cy="3013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07"/>
              </a:lnSpc>
            </a:pPr>
            <a:r>
              <a:rPr lang="en-US" sz="28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The minimum number of data point</a:t>
            </a:r>
            <a:r>
              <a:rPr lang="en-US" sz="28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 needed within the ε radius to define a cluster</a:t>
            </a:r>
          </a:p>
          <a:p>
            <a:pPr algn="l" marL="618071" indent="-309035" lvl="1">
              <a:lnSpc>
                <a:spcPts val="4007"/>
              </a:lnSpc>
              <a:buFont typeface="Arial"/>
              <a:buChar char="•"/>
            </a:pPr>
            <a:r>
              <a:rPr lang="en-US" sz="28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Too Low → False clusters (Noise treated as clusters).</a:t>
            </a:r>
          </a:p>
          <a:p>
            <a:pPr algn="l" marL="618071" indent="-309035" lvl="1">
              <a:lnSpc>
                <a:spcPts val="4007"/>
              </a:lnSpc>
              <a:buFont typeface="Arial"/>
              <a:buChar char="•"/>
            </a:pPr>
            <a:r>
              <a:rPr lang="en-US" sz="28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Too High → True clusters treated as noise.</a:t>
            </a:r>
          </a:p>
        </p:txBody>
      </p:sp>
      <p:sp>
        <p:nvSpPr>
          <p:cNvPr name="AutoShape 8" id="8"/>
          <p:cNvSpPr/>
          <p:nvPr/>
        </p:nvSpPr>
        <p:spPr>
          <a:xfrm>
            <a:off x="3300930" y="2614194"/>
            <a:ext cx="2683516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9" id="9"/>
          <p:cNvSpPr txBox="true"/>
          <p:nvPr/>
        </p:nvSpPr>
        <p:spPr>
          <a:xfrm rot="0">
            <a:off x="1391064" y="2280664"/>
            <a:ext cx="2238570" cy="571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07"/>
              </a:lnSpc>
            </a:pPr>
            <a:r>
              <a:rPr lang="en-US" b="true" sz="3362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MinPts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782432" y="3392098"/>
            <a:ext cx="6733437" cy="4832814"/>
          </a:xfrm>
          <a:custGeom>
            <a:avLst/>
            <a:gdLst/>
            <a:ahLst/>
            <a:cxnLst/>
            <a:rect r="r" b="b" t="t" l="l"/>
            <a:pathLst>
              <a:path h="4832814" w="6733437">
                <a:moveTo>
                  <a:pt x="0" y="0"/>
                </a:moveTo>
                <a:lnTo>
                  <a:pt x="6733438" y="0"/>
                </a:lnTo>
                <a:lnTo>
                  <a:pt x="6733438" y="4832814"/>
                </a:lnTo>
                <a:lnTo>
                  <a:pt x="0" y="48328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380" t="0" r="-22798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281334" y="6853624"/>
            <a:ext cx="1971782" cy="489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07"/>
              </a:lnSpc>
            </a:pPr>
            <a:r>
              <a:rPr lang="en-US" sz="28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MinPts = 4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6629320" y="8914352"/>
            <a:ext cx="687896" cy="687176"/>
            <a:chOff x="0" y="0"/>
            <a:chExt cx="917195" cy="916235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917195" cy="916235"/>
              <a:chOff x="0" y="0"/>
              <a:chExt cx="812800" cy="811949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1949"/>
              </a:xfrm>
              <a:custGeom>
                <a:avLst/>
                <a:gdLst/>
                <a:ahLst/>
                <a:cxnLst/>
                <a:rect r="r" b="b" t="t" l="l"/>
                <a:pathLst>
                  <a:path h="811949" w="812800">
                    <a:moveTo>
                      <a:pt x="406400" y="0"/>
                    </a:moveTo>
                    <a:cubicBezTo>
                      <a:pt x="181951" y="0"/>
                      <a:pt x="0" y="181761"/>
                      <a:pt x="0" y="405975"/>
                    </a:cubicBezTo>
                    <a:cubicBezTo>
                      <a:pt x="0" y="630188"/>
                      <a:pt x="181951" y="811949"/>
                      <a:pt x="406400" y="811949"/>
                    </a:cubicBezTo>
                    <a:cubicBezTo>
                      <a:pt x="630849" y="811949"/>
                      <a:pt x="812800" y="630188"/>
                      <a:pt x="812800" y="405975"/>
                    </a:cubicBezTo>
                    <a:cubicBezTo>
                      <a:pt x="812800" y="18176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47545"/>
                <a:ext cx="660400" cy="6882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66806" y="155131"/>
              <a:ext cx="783582" cy="5583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2"/>
                </a:lnSpc>
              </a:pPr>
              <a:r>
                <a:rPr lang="en-US" sz="2544" b="true">
                  <a:solidFill>
                    <a:srgbClr val="FFFFFF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07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28700"/>
            <a:ext cx="6664879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2654034"/>
            <a:ext cx="7611043" cy="5180990"/>
            <a:chOff x="0" y="0"/>
            <a:chExt cx="1566058" cy="106604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66058" cy="1066047"/>
            </a:xfrm>
            <a:custGeom>
              <a:avLst/>
              <a:gdLst/>
              <a:ahLst/>
              <a:cxnLst/>
              <a:rect r="r" b="b" t="t" l="l"/>
              <a:pathLst>
                <a:path h="1066047" w="1566058">
                  <a:moveTo>
                    <a:pt x="19867" y="0"/>
                  </a:moveTo>
                  <a:lnTo>
                    <a:pt x="1546191" y="0"/>
                  </a:lnTo>
                  <a:cubicBezTo>
                    <a:pt x="1551460" y="0"/>
                    <a:pt x="1556513" y="2093"/>
                    <a:pt x="1560239" y="5819"/>
                  </a:cubicBezTo>
                  <a:cubicBezTo>
                    <a:pt x="1563965" y="9545"/>
                    <a:pt x="1566058" y="14598"/>
                    <a:pt x="1566058" y="19867"/>
                  </a:cubicBezTo>
                  <a:lnTo>
                    <a:pt x="1566058" y="1046180"/>
                  </a:lnTo>
                  <a:cubicBezTo>
                    <a:pt x="1566058" y="1051449"/>
                    <a:pt x="1563965" y="1056502"/>
                    <a:pt x="1560239" y="1060228"/>
                  </a:cubicBezTo>
                  <a:cubicBezTo>
                    <a:pt x="1556513" y="1063954"/>
                    <a:pt x="1551460" y="1066047"/>
                    <a:pt x="1546191" y="1066047"/>
                  </a:cubicBezTo>
                  <a:lnTo>
                    <a:pt x="19867" y="1066047"/>
                  </a:lnTo>
                  <a:cubicBezTo>
                    <a:pt x="14598" y="1066047"/>
                    <a:pt x="9545" y="1063954"/>
                    <a:pt x="5819" y="1060228"/>
                  </a:cubicBezTo>
                  <a:cubicBezTo>
                    <a:pt x="2093" y="1056502"/>
                    <a:pt x="0" y="1051449"/>
                    <a:pt x="0" y="1046180"/>
                  </a:cubicBezTo>
                  <a:lnTo>
                    <a:pt x="0" y="19867"/>
                  </a:lnTo>
                  <a:cubicBezTo>
                    <a:pt x="0" y="14598"/>
                    <a:pt x="2093" y="9545"/>
                    <a:pt x="5819" y="5819"/>
                  </a:cubicBezTo>
                  <a:cubicBezTo>
                    <a:pt x="9545" y="2093"/>
                    <a:pt x="14598" y="0"/>
                    <a:pt x="19867" y="0"/>
                  </a:cubicBezTo>
                  <a:close/>
                </a:path>
              </a:pathLst>
            </a:custGeom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566058" cy="1104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896865" y="2957362"/>
            <a:ext cx="8115300" cy="5217340"/>
          </a:xfrm>
          <a:custGeom>
            <a:avLst/>
            <a:gdLst/>
            <a:ahLst/>
            <a:cxnLst/>
            <a:rect r="r" b="b" t="t" l="l"/>
            <a:pathLst>
              <a:path h="5217340" w="8115300">
                <a:moveTo>
                  <a:pt x="0" y="0"/>
                </a:moveTo>
                <a:lnTo>
                  <a:pt x="8115300" y="0"/>
                </a:lnTo>
                <a:lnTo>
                  <a:pt x="8115300" y="5217341"/>
                </a:lnTo>
                <a:lnTo>
                  <a:pt x="0" y="52173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257" t="0" r="-17215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570275" y="5388978"/>
            <a:ext cx="1190056" cy="1188568"/>
          </a:xfrm>
          <a:custGeom>
            <a:avLst/>
            <a:gdLst/>
            <a:ahLst/>
            <a:cxnLst/>
            <a:rect r="r" b="b" t="t" l="l"/>
            <a:pathLst>
              <a:path h="1188568" w="1190056">
                <a:moveTo>
                  <a:pt x="0" y="0"/>
                </a:moveTo>
                <a:lnTo>
                  <a:pt x="1190056" y="0"/>
                </a:lnTo>
                <a:lnTo>
                  <a:pt x="1190056" y="1188568"/>
                </a:lnTo>
                <a:lnTo>
                  <a:pt x="0" y="11885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3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070053" y="5856939"/>
            <a:ext cx="286451" cy="286093"/>
          </a:xfrm>
          <a:custGeom>
            <a:avLst/>
            <a:gdLst/>
            <a:ahLst/>
            <a:cxnLst/>
            <a:rect r="r" b="b" t="t" l="l"/>
            <a:pathLst>
              <a:path h="286093" w="286451">
                <a:moveTo>
                  <a:pt x="0" y="0"/>
                </a:moveTo>
                <a:lnTo>
                  <a:pt x="286451" y="0"/>
                </a:lnTo>
                <a:lnTo>
                  <a:pt x="286451" y="286093"/>
                </a:lnTo>
                <a:lnTo>
                  <a:pt x="0" y="2860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007637"/>
            <a:ext cx="7033668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000000"/>
                </a:solidFill>
                <a:latin typeface="Bodoni FLF Bold"/>
                <a:ea typeface="Bodoni FLF Bold"/>
                <a:cs typeface="Bodoni FLF Bold"/>
                <a:sym typeface="Bodoni FLF Bold"/>
              </a:rPr>
              <a:t>TYPES OF POINTS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91064" y="2900212"/>
            <a:ext cx="6886315" cy="4527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18071" indent="-309035" lvl="1">
              <a:lnSpc>
                <a:spcPts val="4007"/>
              </a:lnSpc>
              <a:buFont typeface="Arial"/>
              <a:buChar char="•"/>
            </a:pPr>
            <a:r>
              <a:rPr lang="en-US" b="true" sz="2862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</a:t>
            </a:r>
            <a:r>
              <a:rPr lang="en-US" b="true" sz="2862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ore P</a:t>
            </a:r>
            <a:r>
              <a:rPr lang="en-US" b="true" sz="2862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oint:</a:t>
            </a:r>
            <a:r>
              <a:rPr lang="en-US" sz="28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Has at least MinPts inside radius</a:t>
            </a:r>
          </a:p>
          <a:p>
            <a:pPr algn="just">
              <a:lnSpc>
                <a:spcPts val="4007"/>
              </a:lnSpc>
            </a:pPr>
          </a:p>
          <a:p>
            <a:pPr algn="just" marL="618071" indent="-309035" lvl="1">
              <a:lnSpc>
                <a:spcPts val="4007"/>
              </a:lnSpc>
              <a:buFont typeface="Arial"/>
              <a:buChar char="•"/>
            </a:pPr>
            <a:r>
              <a:rPr lang="en-US" b="true" sz="2862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Border Point:</a:t>
            </a:r>
            <a:r>
              <a:rPr lang="en-US" sz="28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Has fewer than MinPts, but is within radius of a Core.</a:t>
            </a:r>
          </a:p>
          <a:p>
            <a:pPr algn="just">
              <a:lnSpc>
                <a:spcPts val="4007"/>
              </a:lnSpc>
            </a:pPr>
            <a:r>
              <a:rPr lang="en-US" sz="28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( Belong to the cluster but don’t expand)</a:t>
            </a:r>
          </a:p>
          <a:p>
            <a:pPr algn="just">
              <a:lnSpc>
                <a:spcPts val="4007"/>
              </a:lnSpc>
            </a:pPr>
          </a:p>
          <a:p>
            <a:pPr algn="just" marL="618071" indent="-309035" lvl="1">
              <a:lnSpc>
                <a:spcPts val="4007"/>
              </a:lnSpc>
              <a:buFont typeface="Arial"/>
              <a:buChar char="•"/>
            </a:pPr>
            <a:r>
              <a:rPr lang="en-US" b="true" sz="2862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Noise Point (Outlier):</a:t>
            </a:r>
            <a:r>
              <a:rPr lang="en-US" sz="28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Not enough neighbors; not reachable.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27917" y="8117553"/>
            <a:ext cx="1971782" cy="489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07"/>
              </a:lnSpc>
            </a:pPr>
            <a:r>
              <a:rPr lang="en-US" sz="286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MinPts = 4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6629320" y="8914352"/>
            <a:ext cx="687896" cy="687896"/>
            <a:chOff x="0" y="0"/>
            <a:chExt cx="917195" cy="917195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917195" cy="917195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66806" y="155131"/>
              <a:ext cx="783582" cy="559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2"/>
                </a:lnSpc>
              </a:pPr>
              <a:r>
                <a:rPr lang="en-US" sz="2544" b="true">
                  <a:solidFill>
                    <a:srgbClr val="FFFFFF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7164" y="1577075"/>
            <a:ext cx="17033673" cy="7132851"/>
          </a:xfrm>
          <a:custGeom>
            <a:avLst/>
            <a:gdLst/>
            <a:ahLst/>
            <a:cxnLst/>
            <a:rect r="r" b="b" t="t" l="l"/>
            <a:pathLst>
              <a:path h="7132851" w="17033673">
                <a:moveTo>
                  <a:pt x="0" y="0"/>
                </a:moveTo>
                <a:lnTo>
                  <a:pt x="17033672" y="0"/>
                </a:lnTo>
                <a:lnTo>
                  <a:pt x="17033672" y="7132850"/>
                </a:lnTo>
                <a:lnTo>
                  <a:pt x="0" y="71328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629320" y="8914352"/>
            <a:ext cx="687896" cy="687896"/>
            <a:chOff x="0" y="0"/>
            <a:chExt cx="917195" cy="917195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17195" cy="917195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66806" y="155131"/>
              <a:ext cx="783582" cy="559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2"/>
                </a:lnSpc>
              </a:pPr>
              <a:r>
                <a:rPr lang="en-US" sz="2544" b="true">
                  <a:solidFill>
                    <a:srgbClr val="FFFFFF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09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1028700" y="1028700"/>
            <a:ext cx="6664879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4223" y="1076354"/>
            <a:ext cx="17399554" cy="8134291"/>
          </a:xfrm>
          <a:custGeom>
            <a:avLst/>
            <a:gdLst/>
            <a:ahLst/>
            <a:cxnLst/>
            <a:rect r="r" b="b" t="t" l="l"/>
            <a:pathLst>
              <a:path h="8134291" w="17399554">
                <a:moveTo>
                  <a:pt x="0" y="0"/>
                </a:moveTo>
                <a:lnTo>
                  <a:pt x="17399554" y="0"/>
                </a:lnTo>
                <a:lnTo>
                  <a:pt x="17399554" y="8134292"/>
                </a:lnTo>
                <a:lnTo>
                  <a:pt x="0" y="81342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915352" y="340804"/>
            <a:ext cx="687896" cy="687896"/>
            <a:chOff x="0" y="0"/>
            <a:chExt cx="917195" cy="917195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17195" cy="917195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66806" y="155131"/>
              <a:ext cx="783582" cy="559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2"/>
                </a:lnSpc>
              </a:pPr>
              <a:r>
                <a:rPr lang="en-US" sz="2544" b="true">
                  <a:solidFill>
                    <a:srgbClr val="FFFFFF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6345" y="339777"/>
            <a:ext cx="17675311" cy="9323727"/>
          </a:xfrm>
          <a:custGeom>
            <a:avLst/>
            <a:gdLst/>
            <a:ahLst/>
            <a:cxnLst/>
            <a:rect r="r" b="b" t="t" l="l"/>
            <a:pathLst>
              <a:path h="9323727" w="17675311">
                <a:moveTo>
                  <a:pt x="0" y="0"/>
                </a:moveTo>
                <a:lnTo>
                  <a:pt x="17675310" y="0"/>
                </a:lnTo>
                <a:lnTo>
                  <a:pt x="17675310" y="9323727"/>
                </a:lnTo>
                <a:lnTo>
                  <a:pt x="0" y="93237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915352" y="340804"/>
            <a:ext cx="687896" cy="687896"/>
            <a:chOff x="0" y="0"/>
            <a:chExt cx="917195" cy="917195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17195" cy="917195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66806" y="155131"/>
              <a:ext cx="783582" cy="559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2"/>
                </a:lnSpc>
              </a:pPr>
              <a:r>
                <a:rPr lang="en-US" sz="2544" b="true">
                  <a:solidFill>
                    <a:srgbClr val="FFFFFF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8698" y="310452"/>
            <a:ext cx="16810603" cy="9666097"/>
          </a:xfrm>
          <a:custGeom>
            <a:avLst/>
            <a:gdLst/>
            <a:ahLst/>
            <a:cxnLst/>
            <a:rect r="r" b="b" t="t" l="l"/>
            <a:pathLst>
              <a:path h="9666097" w="16810603">
                <a:moveTo>
                  <a:pt x="0" y="0"/>
                </a:moveTo>
                <a:lnTo>
                  <a:pt x="16810604" y="0"/>
                </a:lnTo>
                <a:lnTo>
                  <a:pt x="16810604" y="9666096"/>
                </a:lnTo>
                <a:lnTo>
                  <a:pt x="0" y="96660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915352" y="340804"/>
            <a:ext cx="687896" cy="687896"/>
            <a:chOff x="0" y="0"/>
            <a:chExt cx="917195" cy="917195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17195" cy="917195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66806" y="155131"/>
              <a:ext cx="783582" cy="559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2"/>
                </a:lnSpc>
              </a:pPr>
              <a:r>
                <a:rPr lang="en-US" sz="2544" b="true">
                  <a:solidFill>
                    <a:srgbClr val="FFFFFF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0473" y="425789"/>
            <a:ext cx="17887054" cy="9435421"/>
          </a:xfrm>
          <a:custGeom>
            <a:avLst/>
            <a:gdLst/>
            <a:ahLst/>
            <a:cxnLst/>
            <a:rect r="r" b="b" t="t" l="l"/>
            <a:pathLst>
              <a:path h="9435421" w="17887054">
                <a:moveTo>
                  <a:pt x="0" y="0"/>
                </a:moveTo>
                <a:lnTo>
                  <a:pt x="17887054" y="0"/>
                </a:lnTo>
                <a:lnTo>
                  <a:pt x="17887054" y="9435422"/>
                </a:lnTo>
                <a:lnTo>
                  <a:pt x="0" y="94354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915352" y="340804"/>
            <a:ext cx="687896" cy="687896"/>
            <a:chOff x="0" y="0"/>
            <a:chExt cx="917195" cy="917195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17195" cy="917195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66806" y="155131"/>
              <a:ext cx="783582" cy="559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2"/>
                </a:lnSpc>
              </a:pPr>
              <a:r>
                <a:rPr lang="en-US" sz="2544" b="true">
                  <a:solidFill>
                    <a:srgbClr val="FFFFFF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1735" y="452830"/>
            <a:ext cx="17784530" cy="9381339"/>
          </a:xfrm>
          <a:custGeom>
            <a:avLst/>
            <a:gdLst/>
            <a:ahLst/>
            <a:cxnLst/>
            <a:rect r="r" b="b" t="t" l="l"/>
            <a:pathLst>
              <a:path h="9381339" w="17784530">
                <a:moveTo>
                  <a:pt x="0" y="0"/>
                </a:moveTo>
                <a:lnTo>
                  <a:pt x="17784530" y="0"/>
                </a:lnTo>
                <a:lnTo>
                  <a:pt x="17784530" y="9381340"/>
                </a:lnTo>
                <a:lnTo>
                  <a:pt x="0" y="9381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915352" y="340804"/>
            <a:ext cx="687896" cy="687896"/>
            <a:chOff x="0" y="0"/>
            <a:chExt cx="917195" cy="917195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17195" cy="917195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66806" y="155131"/>
              <a:ext cx="783582" cy="559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2"/>
                </a:lnSpc>
              </a:pPr>
              <a:r>
                <a:rPr lang="en-US" sz="2544" b="true">
                  <a:solidFill>
                    <a:srgbClr val="FFFFFF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14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5901" y="283711"/>
            <a:ext cx="16903614" cy="9719578"/>
          </a:xfrm>
          <a:custGeom>
            <a:avLst/>
            <a:gdLst/>
            <a:ahLst/>
            <a:cxnLst/>
            <a:rect r="r" b="b" t="t" l="l"/>
            <a:pathLst>
              <a:path h="9719578" w="16903614">
                <a:moveTo>
                  <a:pt x="0" y="0"/>
                </a:moveTo>
                <a:lnTo>
                  <a:pt x="16903614" y="0"/>
                </a:lnTo>
                <a:lnTo>
                  <a:pt x="16903614" y="9719578"/>
                </a:lnTo>
                <a:lnTo>
                  <a:pt x="0" y="97195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915352" y="340804"/>
            <a:ext cx="687896" cy="687896"/>
            <a:chOff x="0" y="0"/>
            <a:chExt cx="917195" cy="917195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17195" cy="917195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66806" y="155131"/>
              <a:ext cx="783582" cy="559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2"/>
                </a:lnSpc>
              </a:pPr>
              <a:r>
                <a:rPr lang="en-US" sz="2544" b="true">
                  <a:solidFill>
                    <a:srgbClr val="FFFFFF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15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8200" y="321175"/>
            <a:ext cx="17557761" cy="9261719"/>
          </a:xfrm>
          <a:custGeom>
            <a:avLst/>
            <a:gdLst/>
            <a:ahLst/>
            <a:cxnLst/>
            <a:rect r="r" b="b" t="t" l="l"/>
            <a:pathLst>
              <a:path h="9261719" w="17557761">
                <a:moveTo>
                  <a:pt x="0" y="0"/>
                </a:moveTo>
                <a:lnTo>
                  <a:pt x="17557761" y="0"/>
                </a:lnTo>
                <a:lnTo>
                  <a:pt x="17557761" y="9261719"/>
                </a:lnTo>
                <a:lnTo>
                  <a:pt x="0" y="92617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915352" y="340804"/>
            <a:ext cx="687896" cy="687896"/>
            <a:chOff x="0" y="0"/>
            <a:chExt cx="917195" cy="917195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17195" cy="917195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66806" y="155131"/>
              <a:ext cx="783582" cy="559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2"/>
                </a:lnSpc>
              </a:pPr>
              <a:r>
                <a:rPr lang="en-US" sz="2544" b="true">
                  <a:solidFill>
                    <a:srgbClr val="FFFFFF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16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1101" y="237083"/>
            <a:ext cx="17065798" cy="9812834"/>
          </a:xfrm>
          <a:custGeom>
            <a:avLst/>
            <a:gdLst/>
            <a:ahLst/>
            <a:cxnLst/>
            <a:rect r="r" b="b" t="t" l="l"/>
            <a:pathLst>
              <a:path h="9812834" w="17065798">
                <a:moveTo>
                  <a:pt x="0" y="0"/>
                </a:moveTo>
                <a:lnTo>
                  <a:pt x="17065798" y="0"/>
                </a:lnTo>
                <a:lnTo>
                  <a:pt x="17065798" y="9812834"/>
                </a:lnTo>
                <a:lnTo>
                  <a:pt x="0" y="98128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915352" y="340804"/>
            <a:ext cx="687896" cy="687896"/>
            <a:chOff x="0" y="0"/>
            <a:chExt cx="917195" cy="917195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17195" cy="917195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66806" y="155131"/>
              <a:ext cx="783582" cy="559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2"/>
                </a:lnSpc>
              </a:pPr>
              <a:r>
                <a:rPr lang="en-US" sz="2544" b="true">
                  <a:solidFill>
                    <a:srgbClr val="FFFFFF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17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4288" y="343209"/>
            <a:ext cx="17018965" cy="9785905"/>
          </a:xfrm>
          <a:custGeom>
            <a:avLst/>
            <a:gdLst/>
            <a:ahLst/>
            <a:cxnLst/>
            <a:rect r="r" b="b" t="t" l="l"/>
            <a:pathLst>
              <a:path h="9785905" w="17018965">
                <a:moveTo>
                  <a:pt x="0" y="0"/>
                </a:moveTo>
                <a:lnTo>
                  <a:pt x="17018965" y="0"/>
                </a:lnTo>
                <a:lnTo>
                  <a:pt x="17018965" y="9785905"/>
                </a:lnTo>
                <a:lnTo>
                  <a:pt x="0" y="97859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915352" y="340804"/>
            <a:ext cx="687896" cy="687896"/>
            <a:chOff x="0" y="0"/>
            <a:chExt cx="917195" cy="917195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17195" cy="917195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66806" y="155131"/>
              <a:ext cx="783582" cy="559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2"/>
                </a:lnSpc>
              </a:pPr>
              <a:r>
                <a:rPr lang="en-US" sz="2544" b="true">
                  <a:solidFill>
                    <a:srgbClr val="FFFFFF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18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35178"/>
            <a:ext cx="16541836" cy="9449524"/>
          </a:xfrm>
          <a:custGeom>
            <a:avLst/>
            <a:gdLst/>
            <a:ahLst/>
            <a:cxnLst/>
            <a:rect r="r" b="b" t="t" l="l"/>
            <a:pathLst>
              <a:path h="9449524" w="16541836">
                <a:moveTo>
                  <a:pt x="0" y="0"/>
                </a:moveTo>
                <a:lnTo>
                  <a:pt x="16541836" y="0"/>
                </a:lnTo>
                <a:lnTo>
                  <a:pt x="16541836" y="9449524"/>
                </a:lnTo>
                <a:lnTo>
                  <a:pt x="0" y="94495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915352" y="340804"/>
            <a:ext cx="687896" cy="687896"/>
            <a:chOff x="0" y="0"/>
            <a:chExt cx="917195" cy="917195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17195" cy="917195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66806" y="155131"/>
              <a:ext cx="783582" cy="559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2"/>
                </a:lnSpc>
              </a:pPr>
              <a:r>
                <a:rPr lang="en-US" sz="2544" b="true">
                  <a:solidFill>
                    <a:srgbClr val="FFFFFF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19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7515" y="0"/>
            <a:ext cx="17212971" cy="10026555"/>
          </a:xfrm>
          <a:custGeom>
            <a:avLst/>
            <a:gdLst/>
            <a:ahLst/>
            <a:cxnLst/>
            <a:rect r="r" b="b" t="t" l="l"/>
            <a:pathLst>
              <a:path h="10026555" w="17212971">
                <a:moveTo>
                  <a:pt x="0" y="0"/>
                </a:moveTo>
                <a:lnTo>
                  <a:pt x="17212970" y="0"/>
                </a:lnTo>
                <a:lnTo>
                  <a:pt x="17212970" y="10026555"/>
                </a:lnTo>
                <a:lnTo>
                  <a:pt x="0" y="100265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915352" y="340804"/>
            <a:ext cx="687896" cy="687896"/>
            <a:chOff x="0" y="0"/>
            <a:chExt cx="917195" cy="917195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17195" cy="917195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66806" y="155131"/>
              <a:ext cx="783582" cy="559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2"/>
                </a:lnSpc>
              </a:pPr>
              <a:r>
                <a:rPr lang="en-US" sz="2544" b="true">
                  <a:solidFill>
                    <a:srgbClr val="FFFFFF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20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63917" y="0"/>
            <a:ext cx="12946461" cy="10287000"/>
          </a:xfrm>
          <a:custGeom>
            <a:avLst/>
            <a:gdLst/>
            <a:ahLst/>
            <a:cxnLst/>
            <a:rect r="r" b="b" t="t" l="l"/>
            <a:pathLst>
              <a:path h="10287000" w="12946461">
                <a:moveTo>
                  <a:pt x="0" y="0"/>
                </a:moveTo>
                <a:lnTo>
                  <a:pt x="12946461" y="0"/>
                </a:lnTo>
                <a:lnTo>
                  <a:pt x="1294646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73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34316" y="6221656"/>
            <a:ext cx="7849441" cy="1210196"/>
            <a:chOff x="0" y="0"/>
            <a:chExt cx="10465921" cy="161359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465922" cy="1613595"/>
            </a:xfrm>
            <a:custGeom>
              <a:avLst/>
              <a:gdLst/>
              <a:ahLst/>
              <a:cxnLst/>
              <a:rect r="r" b="b" t="t" l="l"/>
              <a:pathLst>
                <a:path h="1613595" w="10465922">
                  <a:moveTo>
                    <a:pt x="745644" y="0"/>
                  </a:moveTo>
                  <a:lnTo>
                    <a:pt x="9720277" y="0"/>
                  </a:lnTo>
                  <a:cubicBezTo>
                    <a:pt x="10132085" y="0"/>
                    <a:pt x="10465922" y="333836"/>
                    <a:pt x="10465922" y="745644"/>
                  </a:cubicBezTo>
                  <a:lnTo>
                    <a:pt x="10465922" y="867950"/>
                  </a:lnTo>
                  <a:cubicBezTo>
                    <a:pt x="10465922" y="1065707"/>
                    <a:pt x="10387363" y="1255365"/>
                    <a:pt x="10247527" y="1395200"/>
                  </a:cubicBezTo>
                  <a:cubicBezTo>
                    <a:pt x="10107692" y="1535036"/>
                    <a:pt x="9918034" y="1613595"/>
                    <a:pt x="9720277" y="1613595"/>
                  </a:cubicBezTo>
                  <a:lnTo>
                    <a:pt x="745644" y="1613595"/>
                  </a:lnTo>
                  <a:cubicBezTo>
                    <a:pt x="333836" y="1613595"/>
                    <a:pt x="0" y="1279758"/>
                    <a:pt x="0" y="867950"/>
                  </a:cubicBezTo>
                  <a:lnTo>
                    <a:pt x="0" y="745644"/>
                  </a:lnTo>
                  <a:cubicBezTo>
                    <a:pt x="0" y="547887"/>
                    <a:pt x="78559" y="358230"/>
                    <a:pt x="218394" y="218394"/>
                  </a:cubicBezTo>
                  <a:cubicBezTo>
                    <a:pt x="358230" y="78559"/>
                    <a:pt x="547887" y="0"/>
                    <a:pt x="745644" y="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780" r="-63089" b="-151449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23825"/>
              <a:ext cx="10465921" cy="1737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329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Calculation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915352" y="9258300"/>
            <a:ext cx="687896" cy="687896"/>
            <a:chOff x="0" y="0"/>
            <a:chExt cx="917195" cy="917195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917195" cy="917195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66806" y="155131"/>
              <a:ext cx="783582" cy="559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2"/>
                </a:lnSpc>
              </a:pPr>
              <a:r>
                <a:rPr lang="en-US" sz="2544" b="true">
                  <a:solidFill>
                    <a:srgbClr val="FFFFFF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21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43200" y="4594860"/>
            <a:ext cx="12801600" cy="2124596"/>
            <a:chOff x="0" y="0"/>
            <a:chExt cx="17068800" cy="2832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68800" cy="2832795"/>
            </a:xfrm>
            <a:custGeom>
              <a:avLst/>
              <a:gdLst/>
              <a:ahLst/>
              <a:cxnLst/>
              <a:rect r="r" b="b" t="t" l="l"/>
              <a:pathLst>
                <a:path h="2832795" w="17068800">
                  <a:moveTo>
                    <a:pt x="457200" y="0"/>
                  </a:moveTo>
                  <a:lnTo>
                    <a:pt x="16611600" y="0"/>
                  </a:lnTo>
                  <a:cubicBezTo>
                    <a:pt x="16864104" y="0"/>
                    <a:pt x="17068800" y="204695"/>
                    <a:pt x="17068800" y="457200"/>
                  </a:cubicBezTo>
                  <a:lnTo>
                    <a:pt x="17068800" y="2375595"/>
                  </a:lnTo>
                  <a:cubicBezTo>
                    <a:pt x="17068800" y="2628099"/>
                    <a:pt x="16864104" y="2832795"/>
                    <a:pt x="16611600" y="2832795"/>
                  </a:cubicBezTo>
                  <a:lnTo>
                    <a:pt x="457200" y="2832795"/>
                  </a:lnTo>
                  <a:cubicBezTo>
                    <a:pt x="204695" y="2832795"/>
                    <a:pt x="0" y="2628099"/>
                    <a:pt x="0" y="2375595"/>
                  </a:cubicBezTo>
                  <a:lnTo>
                    <a:pt x="0" y="457200"/>
                  </a:lnTo>
                  <a:cubicBezTo>
                    <a:pt x="0" y="204695"/>
                    <a:pt x="204695" y="0"/>
                    <a:pt x="457200" y="0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582" r="0" b="-4322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7068800" cy="2956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329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  <a:r>
                <a:rPr lang="en-US" sz="6000" b="true">
                  <a:solidFill>
                    <a:srgbClr val="1329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DBS</a:t>
              </a:r>
              <a:r>
                <a:rPr lang="en-US" sz="6000" b="true">
                  <a:solidFill>
                    <a:srgbClr val="1329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CAN Implementation &amp; Deployment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915352" y="9258300"/>
            <a:ext cx="687896" cy="687896"/>
            <a:chOff x="0" y="0"/>
            <a:chExt cx="917195" cy="917195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917195" cy="917195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66806" y="155131"/>
              <a:ext cx="783582" cy="559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2"/>
                </a:lnSpc>
              </a:pPr>
              <a:r>
                <a:rPr lang="en-US" sz="2544" b="true">
                  <a:solidFill>
                    <a:srgbClr val="FFFFFF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22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1028700" y="1028700"/>
            <a:ext cx="6664879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" y="0"/>
            <a:ext cx="18178272" cy="2103120"/>
            <a:chOff x="0" y="0"/>
            <a:chExt cx="24237696" cy="2804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237696" cy="2804160"/>
            </a:xfrm>
            <a:custGeom>
              <a:avLst/>
              <a:gdLst/>
              <a:ahLst/>
              <a:cxnLst/>
              <a:rect r="r" b="b" t="t" l="l"/>
              <a:pathLst>
                <a:path h="2804160" w="24237696">
                  <a:moveTo>
                    <a:pt x="457200" y="0"/>
                  </a:moveTo>
                  <a:lnTo>
                    <a:pt x="23780496" y="0"/>
                  </a:lnTo>
                  <a:cubicBezTo>
                    <a:pt x="23901753" y="0"/>
                    <a:pt x="24018044" y="48169"/>
                    <a:pt x="24103785" y="133911"/>
                  </a:cubicBezTo>
                  <a:cubicBezTo>
                    <a:pt x="24189527" y="219652"/>
                    <a:pt x="24237696" y="335943"/>
                    <a:pt x="24237696" y="457200"/>
                  </a:cubicBezTo>
                  <a:lnTo>
                    <a:pt x="24237696" y="2346960"/>
                  </a:lnTo>
                  <a:cubicBezTo>
                    <a:pt x="24237696" y="2599465"/>
                    <a:pt x="24033000" y="2804160"/>
                    <a:pt x="23780496" y="2804160"/>
                  </a:cubicBezTo>
                  <a:lnTo>
                    <a:pt x="457200" y="2804160"/>
                  </a:lnTo>
                  <a:cubicBezTo>
                    <a:pt x="335943" y="2804160"/>
                    <a:pt x="219652" y="2755991"/>
                    <a:pt x="133911" y="2670249"/>
                  </a:cubicBezTo>
                  <a:cubicBezTo>
                    <a:pt x="48169" y="2584508"/>
                    <a:pt x="0" y="2468217"/>
                    <a:pt x="0" y="2346960"/>
                  </a:cubicBezTo>
                  <a:lnTo>
                    <a:pt x="0" y="457200"/>
                  </a:lnTo>
                  <a:cubicBezTo>
                    <a:pt x="0" y="204695"/>
                    <a:pt x="204695" y="0"/>
                    <a:pt x="457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0080" y="0"/>
            <a:ext cx="109728" cy="10287000"/>
            <a:chOff x="0" y="0"/>
            <a:chExt cx="146304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46304">
                  <a:moveTo>
                    <a:pt x="73152" y="0"/>
                  </a:moveTo>
                  <a:lnTo>
                    <a:pt x="73152" y="0"/>
                  </a:lnTo>
                  <a:cubicBezTo>
                    <a:pt x="92553" y="0"/>
                    <a:pt x="111160" y="7707"/>
                    <a:pt x="124878" y="21426"/>
                  </a:cubicBezTo>
                  <a:cubicBezTo>
                    <a:pt x="138597" y="35144"/>
                    <a:pt x="146304" y="53751"/>
                    <a:pt x="146304" y="73152"/>
                  </a:cubicBezTo>
                  <a:lnTo>
                    <a:pt x="146304" y="13642848"/>
                  </a:lnTo>
                  <a:cubicBezTo>
                    <a:pt x="146304" y="13683249"/>
                    <a:pt x="113553" y="13716000"/>
                    <a:pt x="73152" y="13716000"/>
                  </a:cubicBezTo>
                  <a:lnTo>
                    <a:pt x="73152" y="13716000"/>
                  </a:lnTo>
                  <a:cubicBezTo>
                    <a:pt x="32751" y="13716000"/>
                    <a:pt x="0" y="13683249"/>
                    <a:pt x="0" y="13642848"/>
                  </a:cubicBezTo>
                  <a:lnTo>
                    <a:pt x="0" y="73152"/>
                  </a:lnTo>
                  <a:cubicBezTo>
                    <a:pt x="0" y="32751"/>
                    <a:pt x="32751" y="0"/>
                    <a:pt x="73152" y="0"/>
                  </a:cubicBezTo>
                  <a:close/>
                </a:path>
              </a:pathLst>
            </a:custGeom>
            <a:solidFill>
              <a:srgbClr val="AFC1D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80160" y="2286000"/>
            <a:ext cx="3731895" cy="914400"/>
            <a:chOff x="0" y="0"/>
            <a:chExt cx="4975860" cy="1219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758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975860">
                  <a:moveTo>
                    <a:pt x="548920" y="0"/>
                  </a:moveTo>
                  <a:lnTo>
                    <a:pt x="4426940" y="0"/>
                  </a:lnTo>
                  <a:cubicBezTo>
                    <a:pt x="4730100" y="0"/>
                    <a:pt x="4975860" y="245760"/>
                    <a:pt x="4975860" y="548920"/>
                  </a:cubicBezTo>
                  <a:lnTo>
                    <a:pt x="4975860" y="670280"/>
                  </a:lnTo>
                  <a:cubicBezTo>
                    <a:pt x="4975860" y="973440"/>
                    <a:pt x="4730100" y="1219200"/>
                    <a:pt x="4426940" y="1219200"/>
                  </a:cubicBezTo>
                  <a:lnTo>
                    <a:pt x="548920" y="1219200"/>
                  </a:lnTo>
                  <a:cubicBezTo>
                    <a:pt x="245760" y="1219200"/>
                    <a:pt x="0" y="973440"/>
                    <a:pt x="0" y="670280"/>
                  </a:cubicBezTo>
                  <a:lnTo>
                    <a:pt x="0" y="548920"/>
                  </a:lnTo>
                  <a:cubicBezTo>
                    <a:pt x="0" y="245760"/>
                    <a:pt x="245760" y="0"/>
                    <a:pt x="548920" y="0"/>
                  </a:cubicBezTo>
                  <a:close/>
                </a:path>
              </a:pathLst>
            </a:custGeom>
            <a:solidFill>
              <a:srgbClr val="1A2C4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60704" y="2286000"/>
            <a:ext cx="4187952" cy="914400"/>
            <a:chOff x="0" y="0"/>
            <a:chExt cx="5583936" cy="1219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83936" cy="1219200"/>
            </a:xfrm>
            <a:custGeom>
              <a:avLst/>
              <a:gdLst/>
              <a:ahLst/>
              <a:cxnLst/>
              <a:rect r="r" b="b" t="t" l="l"/>
              <a:pathLst>
                <a:path h="1219200" w="5583936">
                  <a:moveTo>
                    <a:pt x="457200" y="0"/>
                  </a:moveTo>
                  <a:lnTo>
                    <a:pt x="5126736" y="0"/>
                  </a:lnTo>
                  <a:cubicBezTo>
                    <a:pt x="5247993" y="0"/>
                    <a:pt x="5364283" y="48169"/>
                    <a:pt x="5450025" y="133911"/>
                  </a:cubicBezTo>
                  <a:cubicBezTo>
                    <a:pt x="5535767" y="219652"/>
                    <a:pt x="5583936" y="335943"/>
                    <a:pt x="5583936" y="457200"/>
                  </a:cubicBezTo>
                  <a:lnTo>
                    <a:pt x="5583936" y="762000"/>
                  </a:lnTo>
                  <a:cubicBezTo>
                    <a:pt x="5583936" y="1014505"/>
                    <a:pt x="5379241" y="1219200"/>
                    <a:pt x="5126736" y="1219200"/>
                  </a:cubicBezTo>
                  <a:lnTo>
                    <a:pt x="457200" y="1219200"/>
                  </a:lnTo>
                  <a:cubicBezTo>
                    <a:pt x="204695" y="1219200"/>
                    <a:pt x="0" y="1014505"/>
                    <a:pt x="0" y="762000"/>
                  </a:cubicBezTo>
                  <a:lnTo>
                    <a:pt x="0" y="457200"/>
                  </a:lnTo>
                  <a:cubicBezTo>
                    <a:pt x="0" y="204695"/>
                    <a:pt x="204695" y="0"/>
                    <a:pt x="457200" y="0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241" r="0" b="-3924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583936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Criteria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80160" y="3242567"/>
            <a:ext cx="3843023" cy="1086107"/>
            <a:chOff x="0" y="0"/>
            <a:chExt cx="5124031" cy="144814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4406" y="16891"/>
              <a:ext cx="5095143" cy="1414272"/>
            </a:xfrm>
            <a:custGeom>
              <a:avLst/>
              <a:gdLst/>
              <a:ahLst/>
              <a:cxnLst/>
              <a:rect r="r" b="b" t="t" l="l"/>
              <a:pathLst>
                <a:path h="1414272" w="5095143">
                  <a:moveTo>
                    <a:pt x="0" y="0"/>
                  </a:moveTo>
                  <a:lnTo>
                    <a:pt x="5095143" y="0"/>
                  </a:lnTo>
                  <a:lnTo>
                    <a:pt x="5095143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162033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23955" cy="1448054"/>
            </a:xfrm>
            <a:custGeom>
              <a:avLst/>
              <a:gdLst/>
              <a:ahLst/>
              <a:cxnLst/>
              <a:rect r="r" b="b" t="t" l="l"/>
              <a:pathLst>
                <a:path h="1448054" w="5123955">
                  <a:moveTo>
                    <a:pt x="14406" y="0"/>
                  </a:moveTo>
                  <a:lnTo>
                    <a:pt x="5109549" y="0"/>
                  </a:lnTo>
                  <a:cubicBezTo>
                    <a:pt x="5117564" y="0"/>
                    <a:pt x="5123955" y="7620"/>
                    <a:pt x="5123955" y="16891"/>
                  </a:cubicBezTo>
                  <a:lnTo>
                    <a:pt x="5123955" y="1431163"/>
                  </a:lnTo>
                  <a:cubicBezTo>
                    <a:pt x="5123955" y="1440561"/>
                    <a:pt x="5117456" y="1448054"/>
                    <a:pt x="5109549" y="1448054"/>
                  </a:cubicBezTo>
                  <a:lnTo>
                    <a:pt x="14406" y="1448054"/>
                  </a:lnTo>
                  <a:cubicBezTo>
                    <a:pt x="6391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6499" y="0"/>
                    <a:pt x="14406" y="0"/>
                  </a:cubicBezTo>
                  <a:moveTo>
                    <a:pt x="14406" y="33909"/>
                  </a:moveTo>
                  <a:lnTo>
                    <a:pt x="14406" y="16891"/>
                  </a:lnTo>
                  <a:lnTo>
                    <a:pt x="28920" y="16891"/>
                  </a:lnTo>
                  <a:lnTo>
                    <a:pt x="28920" y="1431163"/>
                  </a:lnTo>
                  <a:lnTo>
                    <a:pt x="14406" y="1431163"/>
                  </a:lnTo>
                  <a:lnTo>
                    <a:pt x="14406" y="1414272"/>
                  </a:lnTo>
                  <a:lnTo>
                    <a:pt x="5109549" y="1414272"/>
                  </a:lnTo>
                  <a:lnTo>
                    <a:pt x="5109549" y="1431163"/>
                  </a:lnTo>
                  <a:lnTo>
                    <a:pt x="5095143" y="1431163"/>
                  </a:lnTo>
                  <a:lnTo>
                    <a:pt x="5095143" y="16891"/>
                  </a:lnTo>
                  <a:lnTo>
                    <a:pt x="5109549" y="16891"/>
                  </a:lnTo>
                  <a:lnTo>
                    <a:pt x="5109549" y="33909"/>
                  </a:lnTo>
                  <a:lnTo>
                    <a:pt x="14406" y="33909"/>
                  </a:lnTo>
                  <a:close/>
                </a:path>
              </a:pathLst>
            </a:custGeom>
            <a:solidFill>
              <a:srgbClr val="1E2E4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096975" y="3255264"/>
            <a:ext cx="4114800" cy="1060704"/>
            <a:chOff x="0" y="0"/>
            <a:chExt cx="5486400" cy="14142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864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5486400">
                  <a:moveTo>
                    <a:pt x="457200" y="0"/>
                  </a:moveTo>
                  <a:lnTo>
                    <a:pt x="5029200" y="0"/>
                  </a:lnTo>
                  <a:cubicBezTo>
                    <a:pt x="5281705" y="0"/>
                    <a:pt x="5486400" y="204695"/>
                    <a:pt x="5486400" y="457200"/>
                  </a:cubicBezTo>
                  <a:lnTo>
                    <a:pt x="5486400" y="957072"/>
                  </a:lnTo>
                  <a:cubicBezTo>
                    <a:pt x="5486400" y="1209577"/>
                    <a:pt x="5281705" y="1414272"/>
                    <a:pt x="5029200" y="1414272"/>
                  </a:cubicBezTo>
                  <a:lnTo>
                    <a:pt x="457200" y="1414272"/>
                  </a:lnTo>
                  <a:cubicBezTo>
                    <a:pt x="335943" y="1414272"/>
                    <a:pt x="219652" y="1366103"/>
                    <a:pt x="133911" y="1280361"/>
                  </a:cubicBezTo>
                  <a:cubicBezTo>
                    <a:pt x="48169" y="1194620"/>
                    <a:pt x="0" y="1078329"/>
                    <a:pt x="0" y="957072"/>
                  </a:cubicBezTo>
                  <a:lnTo>
                    <a:pt x="0" y="457200"/>
                  </a:lnTo>
                  <a:cubicBezTo>
                    <a:pt x="0" y="204695"/>
                    <a:pt x="204695" y="0"/>
                    <a:pt x="457200" y="0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588" r="0" b="-2558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5486400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Cluster Shape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80160" y="4376423"/>
            <a:ext cx="3843023" cy="1086107"/>
            <a:chOff x="0" y="0"/>
            <a:chExt cx="5124031" cy="144814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4406" y="16891"/>
              <a:ext cx="5095143" cy="1414272"/>
            </a:xfrm>
            <a:custGeom>
              <a:avLst/>
              <a:gdLst/>
              <a:ahLst/>
              <a:cxnLst/>
              <a:rect r="r" b="b" t="t" l="l"/>
              <a:pathLst>
                <a:path h="1414272" w="5095143">
                  <a:moveTo>
                    <a:pt x="0" y="0"/>
                  </a:moveTo>
                  <a:lnTo>
                    <a:pt x="5095143" y="0"/>
                  </a:lnTo>
                  <a:lnTo>
                    <a:pt x="5095143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13293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23955" cy="1448054"/>
            </a:xfrm>
            <a:custGeom>
              <a:avLst/>
              <a:gdLst/>
              <a:ahLst/>
              <a:cxnLst/>
              <a:rect r="r" b="b" t="t" l="l"/>
              <a:pathLst>
                <a:path h="1448054" w="5123955">
                  <a:moveTo>
                    <a:pt x="14406" y="0"/>
                  </a:moveTo>
                  <a:lnTo>
                    <a:pt x="5109549" y="0"/>
                  </a:lnTo>
                  <a:cubicBezTo>
                    <a:pt x="5117564" y="0"/>
                    <a:pt x="5123955" y="7620"/>
                    <a:pt x="5123955" y="16891"/>
                  </a:cubicBezTo>
                  <a:lnTo>
                    <a:pt x="5123955" y="1431163"/>
                  </a:lnTo>
                  <a:cubicBezTo>
                    <a:pt x="5123955" y="1440561"/>
                    <a:pt x="5117456" y="1448054"/>
                    <a:pt x="5109549" y="1448054"/>
                  </a:cubicBezTo>
                  <a:lnTo>
                    <a:pt x="14406" y="1448054"/>
                  </a:lnTo>
                  <a:cubicBezTo>
                    <a:pt x="6391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6499" y="0"/>
                    <a:pt x="14406" y="0"/>
                  </a:cubicBezTo>
                  <a:moveTo>
                    <a:pt x="14406" y="33909"/>
                  </a:moveTo>
                  <a:lnTo>
                    <a:pt x="14406" y="16891"/>
                  </a:lnTo>
                  <a:lnTo>
                    <a:pt x="28920" y="16891"/>
                  </a:lnTo>
                  <a:lnTo>
                    <a:pt x="28920" y="1431163"/>
                  </a:lnTo>
                  <a:lnTo>
                    <a:pt x="14406" y="1431163"/>
                  </a:lnTo>
                  <a:lnTo>
                    <a:pt x="14406" y="1414272"/>
                  </a:lnTo>
                  <a:lnTo>
                    <a:pt x="5109549" y="1414272"/>
                  </a:lnTo>
                  <a:lnTo>
                    <a:pt x="5109549" y="1431163"/>
                  </a:lnTo>
                  <a:lnTo>
                    <a:pt x="5095143" y="1431163"/>
                  </a:lnTo>
                  <a:lnTo>
                    <a:pt x="5095143" y="16891"/>
                  </a:lnTo>
                  <a:lnTo>
                    <a:pt x="5109549" y="16891"/>
                  </a:lnTo>
                  <a:lnTo>
                    <a:pt x="5109549" y="33909"/>
                  </a:lnTo>
                  <a:lnTo>
                    <a:pt x="14406" y="33909"/>
                  </a:lnTo>
                  <a:close/>
                </a:path>
              </a:pathLst>
            </a:custGeom>
            <a:solidFill>
              <a:srgbClr val="1E2E44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096975" y="4401950"/>
            <a:ext cx="4114800" cy="1060704"/>
            <a:chOff x="0" y="0"/>
            <a:chExt cx="5486400" cy="14142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5486400">
                  <a:moveTo>
                    <a:pt x="457200" y="0"/>
                  </a:moveTo>
                  <a:lnTo>
                    <a:pt x="5029200" y="0"/>
                  </a:lnTo>
                  <a:cubicBezTo>
                    <a:pt x="5281705" y="0"/>
                    <a:pt x="5486400" y="204695"/>
                    <a:pt x="5486400" y="457200"/>
                  </a:cubicBezTo>
                  <a:lnTo>
                    <a:pt x="5486400" y="957072"/>
                  </a:lnTo>
                  <a:cubicBezTo>
                    <a:pt x="5486400" y="1209577"/>
                    <a:pt x="5281705" y="1414272"/>
                    <a:pt x="5029200" y="1414272"/>
                  </a:cubicBezTo>
                  <a:lnTo>
                    <a:pt x="457200" y="1414272"/>
                  </a:lnTo>
                  <a:cubicBezTo>
                    <a:pt x="335943" y="1414272"/>
                    <a:pt x="219652" y="1366103"/>
                    <a:pt x="133911" y="1280361"/>
                  </a:cubicBezTo>
                  <a:cubicBezTo>
                    <a:pt x="48169" y="1194620"/>
                    <a:pt x="0" y="1078329"/>
                    <a:pt x="0" y="957072"/>
                  </a:cubicBezTo>
                  <a:lnTo>
                    <a:pt x="0" y="457200"/>
                  </a:lnTo>
                  <a:cubicBezTo>
                    <a:pt x="0" y="204695"/>
                    <a:pt x="204695" y="0"/>
                    <a:pt x="457200" y="0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588" r="0" b="-2558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5486400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Noise Handling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80160" y="5510279"/>
            <a:ext cx="3843023" cy="1086107"/>
            <a:chOff x="0" y="0"/>
            <a:chExt cx="5124031" cy="144814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4406" y="16891"/>
              <a:ext cx="5095143" cy="1414272"/>
            </a:xfrm>
            <a:custGeom>
              <a:avLst/>
              <a:gdLst/>
              <a:ahLst/>
              <a:cxnLst/>
              <a:rect r="r" b="b" t="t" l="l"/>
              <a:pathLst>
                <a:path h="1414272" w="5095143">
                  <a:moveTo>
                    <a:pt x="0" y="0"/>
                  </a:moveTo>
                  <a:lnTo>
                    <a:pt x="5095143" y="0"/>
                  </a:lnTo>
                  <a:lnTo>
                    <a:pt x="5095143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162033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23955" cy="1448054"/>
            </a:xfrm>
            <a:custGeom>
              <a:avLst/>
              <a:gdLst/>
              <a:ahLst/>
              <a:cxnLst/>
              <a:rect r="r" b="b" t="t" l="l"/>
              <a:pathLst>
                <a:path h="1448054" w="5123955">
                  <a:moveTo>
                    <a:pt x="14406" y="0"/>
                  </a:moveTo>
                  <a:lnTo>
                    <a:pt x="5109549" y="0"/>
                  </a:lnTo>
                  <a:cubicBezTo>
                    <a:pt x="5117564" y="0"/>
                    <a:pt x="5123955" y="7620"/>
                    <a:pt x="5123955" y="16891"/>
                  </a:cubicBezTo>
                  <a:lnTo>
                    <a:pt x="5123955" y="1431163"/>
                  </a:lnTo>
                  <a:cubicBezTo>
                    <a:pt x="5123955" y="1440561"/>
                    <a:pt x="5117456" y="1448054"/>
                    <a:pt x="5109549" y="1448054"/>
                  </a:cubicBezTo>
                  <a:lnTo>
                    <a:pt x="14406" y="1448054"/>
                  </a:lnTo>
                  <a:cubicBezTo>
                    <a:pt x="6391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6499" y="0"/>
                    <a:pt x="14406" y="0"/>
                  </a:cubicBezTo>
                  <a:moveTo>
                    <a:pt x="14406" y="33909"/>
                  </a:moveTo>
                  <a:lnTo>
                    <a:pt x="14406" y="16891"/>
                  </a:lnTo>
                  <a:lnTo>
                    <a:pt x="28920" y="16891"/>
                  </a:lnTo>
                  <a:lnTo>
                    <a:pt x="28920" y="1431163"/>
                  </a:lnTo>
                  <a:lnTo>
                    <a:pt x="14406" y="1431163"/>
                  </a:lnTo>
                  <a:lnTo>
                    <a:pt x="14406" y="1414272"/>
                  </a:lnTo>
                  <a:lnTo>
                    <a:pt x="5109549" y="1414272"/>
                  </a:lnTo>
                  <a:lnTo>
                    <a:pt x="5109549" y="1431163"/>
                  </a:lnTo>
                  <a:lnTo>
                    <a:pt x="5095143" y="1431163"/>
                  </a:lnTo>
                  <a:lnTo>
                    <a:pt x="5095143" y="16891"/>
                  </a:lnTo>
                  <a:lnTo>
                    <a:pt x="5109549" y="16891"/>
                  </a:lnTo>
                  <a:lnTo>
                    <a:pt x="5109549" y="33909"/>
                  </a:lnTo>
                  <a:lnTo>
                    <a:pt x="14406" y="33909"/>
                  </a:lnTo>
                  <a:close/>
                </a:path>
              </a:pathLst>
            </a:custGeom>
            <a:solidFill>
              <a:srgbClr val="1E2E44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313125" y="5462654"/>
            <a:ext cx="4114800" cy="1060704"/>
            <a:chOff x="0" y="0"/>
            <a:chExt cx="5486400" cy="141427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5486400">
                  <a:moveTo>
                    <a:pt x="457200" y="0"/>
                  </a:moveTo>
                  <a:lnTo>
                    <a:pt x="5029200" y="0"/>
                  </a:lnTo>
                  <a:cubicBezTo>
                    <a:pt x="5281705" y="0"/>
                    <a:pt x="5486400" y="204695"/>
                    <a:pt x="5486400" y="457200"/>
                  </a:cubicBezTo>
                  <a:lnTo>
                    <a:pt x="5486400" y="957072"/>
                  </a:lnTo>
                  <a:cubicBezTo>
                    <a:pt x="5486400" y="1209577"/>
                    <a:pt x="5281705" y="1414272"/>
                    <a:pt x="5029200" y="1414272"/>
                  </a:cubicBezTo>
                  <a:lnTo>
                    <a:pt x="457200" y="1414272"/>
                  </a:lnTo>
                  <a:cubicBezTo>
                    <a:pt x="335943" y="1414272"/>
                    <a:pt x="219652" y="1366103"/>
                    <a:pt x="133911" y="1280361"/>
                  </a:cubicBezTo>
                  <a:cubicBezTo>
                    <a:pt x="48169" y="1194620"/>
                    <a:pt x="0" y="1078329"/>
                    <a:pt x="0" y="957072"/>
                  </a:cubicBezTo>
                  <a:lnTo>
                    <a:pt x="0" y="457200"/>
                  </a:lnTo>
                  <a:cubicBezTo>
                    <a:pt x="0" y="204695"/>
                    <a:pt x="204695" y="0"/>
                    <a:pt x="457200" y="0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588" r="0" b="-2558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5486400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# Clusters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80160" y="6644135"/>
            <a:ext cx="3843023" cy="1086107"/>
            <a:chOff x="0" y="0"/>
            <a:chExt cx="5124031" cy="144814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4406" y="16891"/>
              <a:ext cx="5095143" cy="1414272"/>
            </a:xfrm>
            <a:custGeom>
              <a:avLst/>
              <a:gdLst/>
              <a:ahLst/>
              <a:cxnLst/>
              <a:rect r="r" b="b" t="t" l="l"/>
              <a:pathLst>
                <a:path h="1414272" w="5095143">
                  <a:moveTo>
                    <a:pt x="0" y="0"/>
                  </a:moveTo>
                  <a:lnTo>
                    <a:pt x="5095143" y="0"/>
                  </a:lnTo>
                  <a:lnTo>
                    <a:pt x="5095143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13293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123955" cy="1448054"/>
            </a:xfrm>
            <a:custGeom>
              <a:avLst/>
              <a:gdLst/>
              <a:ahLst/>
              <a:cxnLst/>
              <a:rect r="r" b="b" t="t" l="l"/>
              <a:pathLst>
                <a:path h="1448054" w="5123955">
                  <a:moveTo>
                    <a:pt x="14406" y="0"/>
                  </a:moveTo>
                  <a:lnTo>
                    <a:pt x="5109549" y="0"/>
                  </a:lnTo>
                  <a:cubicBezTo>
                    <a:pt x="5117564" y="0"/>
                    <a:pt x="5123955" y="7620"/>
                    <a:pt x="5123955" y="16891"/>
                  </a:cubicBezTo>
                  <a:lnTo>
                    <a:pt x="5123955" y="1431163"/>
                  </a:lnTo>
                  <a:cubicBezTo>
                    <a:pt x="5123955" y="1440561"/>
                    <a:pt x="5117456" y="1448054"/>
                    <a:pt x="5109549" y="1448054"/>
                  </a:cubicBezTo>
                  <a:lnTo>
                    <a:pt x="14406" y="1448054"/>
                  </a:lnTo>
                  <a:cubicBezTo>
                    <a:pt x="6391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6499" y="0"/>
                    <a:pt x="14406" y="0"/>
                  </a:cubicBezTo>
                  <a:moveTo>
                    <a:pt x="14406" y="33909"/>
                  </a:moveTo>
                  <a:lnTo>
                    <a:pt x="14406" y="16891"/>
                  </a:lnTo>
                  <a:lnTo>
                    <a:pt x="28920" y="16891"/>
                  </a:lnTo>
                  <a:lnTo>
                    <a:pt x="28920" y="1431163"/>
                  </a:lnTo>
                  <a:lnTo>
                    <a:pt x="14406" y="1431163"/>
                  </a:lnTo>
                  <a:lnTo>
                    <a:pt x="14406" y="1414272"/>
                  </a:lnTo>
                  <a:lnTo>
                    <a:pt x="5109549" y="1414272"/>
                  </a:lnTo>
                  <a:lnTo>
                    <a:pt x="5109549" y="1431163"/>
                  </a:lnTo>
                  <a:lnTo>
                    <a:pt x="5095143" y="1431163"/>
                  </a:lnTo>
                  <a:lnTo>
                    <a:pt x="5095143" y="16891"/>
                  </a:lnTo>
                  <a:lnTo>
                    <a:pt x="5109549" y="16891"/>
                  </a:lnTo>
                  <a:lnTo>
                    <a:pt x="5109549" y="33909"/>
                  </a:lnTo>
                  <a:lnTo>
                    <a:pt x="14406" y="33909"/>
                  </a:lnTo>
                  <a:close/>
                </a:path>
              </a:pathLst>
            </a:custGeom>
            <a:solidFill>
              <a:srgbClr val="1E2E44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2313125" y="6729984"/>
            <a:ext cx="4114800" cy="1060704"/>
            <a:chOff x="0" y="0"/>
            <a:chExt cx="5486400" cy="141427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4864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5486400">
                  <a:moveTo>
                    <a:pt x="457200" y="0"/>
                  </a:moveTo>
                  <a:lnTo>
                    <a:pt x="5029200" y="0"/>
                  </a:lnTo>
                  <a:cubicBezTo>
                    <a:pt x="5281705" y="0"/>
                    <a:pt x="5486400" y="204695"/>
                    <a:pt x="5486400" y="457200"/>
                  </a:cubicBezTo>
                  <a:lnTo>
                    <a:pt x="5486400" y="957072"/>
                  </a:lnTo>
                  <a:cubicBezTo>
                    <a:pt x="5486400" y="1209577"/>
                    <a:pt x="5281705" y="1414272"/>
                    <a:pt x="5029200" y="1414272"/>
                  </a:cubicBezTo>
                  <a:lnTo>
                    <a:pt x="457200" y="1414272"/>
                  </a:lnTo>
                  <a:cubicBezTo>
                    <a:pt x="335943" y="1414272"/>
                    <a:pt x="219652" y="1366103"/>
                    <a:pt x="133911" y="1280361"/>
                  </a:cubicBezTo>
                  <a:cubicBezTo>
                    <a:pt x="48169" y="1194620"/>
                    <a:pt x="0" y="1078329"/>
                    <a:pt x="0" y="957072"/>
                  </a:cubicBezTo>
                  <a:lnTo>
                    <a:pt x="0" y="457200"/>
                  </a:lnTo>
                  <a:cubicBezTo>
                    <a:pt x="0" y="204695"/>
                    <a:pt x="204695" y="0"/>
                    <a:pt x="457200" y="0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588" r="0" b="-2558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5486400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Scalability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80160" y="7777991"/>
            <a:ext cx="3843023" cy="1086107"/>
            <a:chOff x="0" y="0"/>
            <a:chExt cx="5124031" cy="144814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4406" y="16891"/>
              <a:ext cx="5095143" cy="1414272"/>
            </a:xfrm>
            <a:custGeom>
              <a:avLst/>
              <a:gdLst/>
              <a:ahLst/>
              <a:cxnLst/>
              <a:rect r="r" b="b" t="t" l="l"/>
              <a:pathLst>
                <a:path h="1414272" w="5095143">
                  <a:moveTo>
                    <a:pt x="0" y="0"/>
                  </a:moveTo>
                  <a:lnTo>
                    <a:pt x="5095143" y="0"/>
                  </a:lnTo>
                  <a:lnTo>
                    <a:pt x="5095143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162033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123955" cy="1448054"/>
            </a:xfrm>
            <a:custGeom>
              <a:avLst/>
              <a:gdLst/>
              <a:ahLst/>
              <a:cxnLst/>
              <a:rect r="r" b="b" t="t" l="l"/>
              <a:pathLst>
                <a:path h="1448054" w="5123955">
                  <a:moveTo>
                    <a:pt x="14406" y="0"/>
                  </a:moveTo>
                  <a:lnTo>
                    <a:pt x="5109549" y="0"/>
                  </a:lnTo>
                  <a:cubicBezTo>
                    <a:pt x="5117564" y="0"/>
                    <a:pt x="5123955" y="7620"/>
                    <a:pt x="5123955" y="16891"/>
                  </a:cubicBezTo>
                  <a:lnTo>
                    <a:pt x="5123955" y="1431163"/>
                  </a:lnTo>
                  <a:cubicBezTo>
                    <a:pt x="5123955" y="1440561"/>
                    <a:pt x="5117456" y="1448054"/>
                    <a:pt x="5109549" y="1448054"/>
                  </a:cubicBezTo>
                  <a:lnTo>
                    <a:pt x="14406" y="1448054"/>
                  </a:lnTo>
                  <a:cubicBezTo>
                    <a:pt x="6391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6499" y="0"/>
                    <a:pt x="14406" y="0"/>
                  </a:cubicBezTo>
                  <a:moveTo>
                    <a:pt x="14406" y="33909"/>
                  </a:moveTo>
                  <a:lnTo>
                    <a:pt x="14406" y="16891"/>
                  </a:lnTo>
                  <a:lnTo>
                    <a:pt x="28920" y="16891"/>
                  </a:lnTo>
                  <a:lnTo>
                    <a:pt x="28920" y="1431163"/>
                  </a:lnTo>
                  <a:lnTo>
                    <a:pt x="14406" y="1431163"/>
                  </a:lnTo>
                  <a:lnTo>
                    <a:pt x="14406" y="1414272"/>
                  </a:lnTo>
                  <a:lnTo>
                    <a:pt x="5109549" y="1414272"/>
                  </a:lnTo>
                  <a:lnTo>
                    <a:pt x="5109549" y="1431163"/>
                  </a:lnTo>
                  <a:lnTo>
                    <a:pt x="5095143" y="1431163"/>
                  </a:lnTo>
                  <a:lnTo>
                    <a:pt x="5095143" y="16891"/>
                  </a:lnTo>
                  <a:lnTo>
                    <a:pt x="5109549" y="16891"/>
                  </a:lnTo>
                  <a:lnTo>
                    <a:pt x="5109549" y="33909"/>
                  </a:lnTo>
                  <a:lnTo>
                    <a:pt x="14406" y="33909"/>
                  </a:lnTo>
                  <a:close/>
                </a:path>
              </a:pathLst>
            </a:custGeom>
            <a:solidFill>
              <a:srgbClr val="1E2E44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2096975" y="7790688"/>
            <a:ext cx="4114800" cy="1060704"/>
            <a:chOff x="0" y="0"/>
            <a:chExt cx="5486400" cy="141427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4864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5486400">
                  <a:moveTo>
                    <a:pt x="457200" y="0"/>
                  </a:moveTo>
                  <a:lnTo>
                    <a:pt x="5029200" y="0"/>
                  </a:lnTo>
                  <a:cubicBezTo>
                    <a:pt x="5281705" y="0"/>
                    <a:pt x="5486400" y="204695"/>
                    <a:pt x="5486400" y="457200"/>
                  </a:cubicBezTo>
                  <a:lnTo>
                    <a:pt x="5486400" y="957072"/>
                  </a:lnTo>
                  <a:cubicBezTo>
                    <a:pt x="5486400" y="1209577"/>
                    <a:pt x="5281705" y="1414272"/>
                    <a:pt x="5029200" y="1414272"/>
                  </a:cubicBezTo>
                  <a:lnTo>
                    <a:pt x="457200" y="1414272"/>
                  </a:lnTo>
                  <a:cubicBezTo>
                    <a:pt x="335943" y="1414272"/>
                    <a:pt x="219652" y="1366103"/>
                    <a:pt x="133911" y="1280361"/>
                  </a:cubicBezTo>
                  <a:cubicBezTo>
                    <a:pt x="48169" y="1194620"/>
                    <a:pt x="0" y="1078329"/>
                    <a:pt x="0" y="957072"/>
                  </a:cubicBezTo>
                  <a:lnTo>
                    <a:pt x="0" y="457200"/>
                  </a:lnTo>
                  <a:cubicBezTo>
                    <a:pt x="0" y="204695"/>
                    <a:pt x="204695" y="0"/>
                    <a:pt x="457200" y="0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588" r="0" b="-2558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5486400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Interpretability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882534" y="2288791"/>
            <a:ext cx="3865883" cy="6578098"/>
            <a:chOff x="0" y="0"/>
            <a:chExt cx="5154511" cy="8770798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16929" y="0"/>
              <a:ext cx="5120640" cy="1219200"/>
              <a:chOff x="0" y="0"/>
              <a:chExt cx="5120640" cy="12192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5120640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5120640">
                    <a:moveTo>
                      <a:pt x="457200" y="0"/>
                    </a:moveTo>
                    <a:lnTo>
                      <a:pt x="4663440" y="0"/>
                    </a:lnTo>
                    <a:cubicBezTo>
                      <a:pt x="4784697" y="0"/>
                      <a:pt x="4900988" y="48169"/>
                      <a:pt x="4986729" y="133911"/>
                    </a:cubicBezTo>
                    <a:cubicBezTo>
                      <a:pt x="5072471" y="219652"/>
                      <a:pt x="5120640" y="335943"/>
                      <a:pt x="5120640" y="457200"/>
                    </a:cubicBezTo>
                    <a:lnTo>
                      <a:pt x="5120640" y="762000"/>
                    </a:lnTo>
                    <a:cubicBezTo>
                      <a:pt x="5120640" y="1014505"/>
                      <a:pt x="4915945" y="1219200"/>
                      <a:pt x="4663440" y="1219200"/>
                    </a:cubicBezTo>
                    <a:lnTo>
                      <a:pt x="457200" y="1219200"/>
                    </a:lnTo>
                    <a:cubicBezTo>
                      <a:pt x="204695" y="1219200"/>
                      <a:pt x="0" y="1014505"/>
                      <a:pt x="0" y="762000"/>
                    </a:cubicBezTo>
                    <a:lnTo>
                      <a:pt x="0" y="457200"/>
                    </a:ln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solidFill>
                <a:srgbClr val="003E4A"/>
              </a:solidFill>
            </p:spPr>
          </p:sp>
        </p:grpSp>
        <p:grpSp>
          <p:nvGrpSpPr>
            <p:cNvPr name="Group 44" id="44"/>
            <p:cNvGrpSpPr/>
            <p:nvPr/>
          </p:nvGrpSpPr>
          <p:grpSpPr>
            <a:xfrm rot="0">
              <a:off x="212001" y="0"/>
              <a:ext cx="4730496" cy="1219200"/>
              <a:chOff x="0" y="0"/>
              <a:chExt cx="4730496" cy="12192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4730496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4730496">
                    <a:moveTo>
                      <a:pt x="457200" y="0"/>
                    </a:moveTo>
                    <a:lnTo>
                      <a:pt x="4273296" y="0"/>
                    </a:lnTo>
                    <a:cubicBezTo>
                      <a:pt x="4394553" y="0"/>
                      <a:pt x="4510844" y="48169"/>
                      <a:pt x="4596585" y="133911"/>
                    </a:cubicBezTo>
                    <a:cubicBezTo>
                      <a:pt x="4682327" y="219652"/>
                      <a:pt x="4730496" y="335943"/>
                      <a:pt x="4730496" y="457200"/>
                    </a:cubicBezTo>
                    <a:lnTo>
                      <a:pt x="4730496" y="762000"/>
                    </a:lnTo>
                    <a:cubicBezTo>
                      <a:pt x="4730496" y="1014505"/>
                      <a:pt x="4525801" y="1219200"/>
                      <a:pt x="4273296" y="1219200"/>
                    </a:cubicBezTo>
                    <a:lnTo>
                      <a:pt x="457200" y="1219200"/>
                    </a:lnTo>
                    <a:cubicBezTo>
                      <a:pt x="204695" y="1219200"/>
                      <a:pt x="0" y="1014505"/>
                      <a:pt x="0" y="762000"/>
                    </a:cubicBezTo>
                    <a:lnTo>
                      <a:pt x="0" y="457200"/>
                    </a:ln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25601" r="0" b="-25601"/>
                </a:stretch>
              </a:blip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57150"/>
                <a:ext cx="4730496" cy="12763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00C2CB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DBSCAN</a:t>
                </a: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0">
              <a:off x="0" y="1275423"/>
              <a:ext cx="5154511" cy="1448143"/>
              <a:chOff x="0" y="0"/>
              <a:chExt cx="5154511" cy="1448143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16891" y="16891"/>
                <a:ext cx="5120640" cy="1414272"/>
              </a:xfrm>
              <a:custGeom>
                <a:avLst/>
                <a:gdLst/>
                <a:ahLst/>
                <a:cxnLst/>
                <a:rect r="r" b="b" t="t" l="l"/>
                <a:pathLst>
                  <a:path h="1414272" w="5120640">
                    <a:moveTo>
                      <a:pt x="0" y="0"/>
                    </a:moveTo>
                    <a:lnTo>
                      <a:pt x="5120640" y="0"/>
                    </a:lnTo>
                    <a:lnTo>
                      <a:pt x="5120640" y="1414272"/>
                    </a:lnTo>
                    <a:lnTo>
                      <a:pt x="0" y="1414272"/>
                    </a:lnTo>
                    <a:close/>
                  </a:path>
                </a:pathLst>
              </a:custGeom>
              <a:solidFill>
                <a:srgbClr val="0A2030"/>
              </a:solidFill>
            </p:spPr>
          </p:sp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5154422" cy="1448054"/>
              </a:xfrm>
              <a:custGeom>
                <a:avLst/>
                <a:gdLst/>
                <a:ahLst/>
                <a:cxnLst/>
                <a:rect r="r" b="b" t="t" l="l"/>
                <a:pathLst>
                  <a:path h="1448054" w="5154422">
                    <a:moveTo>
                      <a:pt x="16891" y="0"/>
                    </a:moveTo>
                    <a:lnTo>
                      <a:pt x="5137531" y="0"/>
                    </a:lnTo>
                    <a:cubicBezTo>
                      <a:pt x="5146929" y="0"/>
                      <a:pt x="5154422" y="7620"/>
                      <a:pt x="5154422" y="16891"/>
                    </a:cubicBezTo>
                    <a:lnTo>
                      <a:pt x="5154422" y="1431163"/>
                    </a:lnTo>
                    <a:cubicBezTo>
                      <a:pt x="5154422" y="1440561"/>
                      <a:pt x="5146802" y="1448054"/>
                      <a:pt x="5137531" y="1448054"/>
                    </a:cubicBezTo>
                    <a:lnTo>
                      <a:pt x="16891" y="1448054"/>
                    </a:lnTo>
                    <a:cubicBezTo>
                      <a:pt x="7493" y="1448054"/>
                      <a:pt x="0" y="1440434"/>
                      <a:pt x="0" y="1431163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431163"/>
                    </a:lnTo>
                    <a:lnTo>
                      <a:pt x="16891" y="1431163"/>
                    </a:lnTo>
                    <a:lnTo>
                      <a:pt x="16891" y="1414272"/>
                    </a:lnTo>
                    <a:lnTo>
                      <a:pt x="5137531" y="1414272"/>
                    </a:lnTo>
                    <a:lnTo>
                      <a:pt x="5137531" y="1431163"/>
                    </a:lnTo>
                    <a:lnTo>
                      <a:pt x="5120640" y="1431163"/>
                    </a:lnTo>
                    <a:lnTo>
                      <a:pt x="5120640" y="16891"/>
                    </a:lnTo>
                    <a:lnTo>
                      <a:pt x="5137531" y="16891"/>
                    </a:lnTo>
                    <a:lnTo>
                      <a:pt x="513753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2E44"/>
              </a:solidFill>
            </p:spPr>
          </p:sp>
        </p:grpSp>
        <p:grpSp>
          <p:nvGrpSpPr>
            <p:cNvPr name="Group 50" id="50"/>
            <p:cNvGrpSpPr/>
            <p:nvPr/>
          </p:nvGrpSpPr>
          <p:grpSpPr>
            <a:xfrm rot="0">
              <a:off x="260769" y="1292352"/>
              <a:ext cx="4632960" cy="1414272"/>
              <a:chOff x="0" y="0"/>
              <a:chExt cx="4632960" cy="1414272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4632960" cy="1414272"/>
              </a:xfrm>
              <a:custGeom>
                <a:avLst/>
                <a:gdLst/>
                <a:ahLst/>
                <a:cxnLst/>
                <a:rect r="r" b="b" t="t" l="l"/>
                <a:pathLst>
                  <a:path h="1414272" w="4632960">
                    <a:moveTo>
                      <a:pt x="457200" y="0"/>
                    </a:moveTo>
                    <a:lnTo>
                      <a:pt x="4175760" y="0"/>
                    </a:lnTo>
                    <a:cubicBezTo>
                      <a:pt x="4428265" y="0"/>
                      <a:pt x="4632960" y="204695"/>
                      <a:pt x="4632960" y="457200"/>
                    </a:cubicBezTo>
                    <a:lnTo>
                      <a:pt x="4632960" y="957072"/>
                    </a:lnTo>
                    <a:cubicBezTo>
                      <a:pt x="4632960" y="1078329"/>
                      <a:pt x="4584791" y="1194620"/>
                      <a:pt x="4499049" y="1280361"/>
                    </a:cubicBezTo>
                    <a:cubicBezTo>
                      <a:pt x="4413307" y="1366103"/>
                      <a:pt x="4297017" y="1414272"/>
                      <a:pt x="4175760" y="1414272"/>
                    </a:cubicBezTo>
                    <a:lnTo>
                      <a:pt x="457200" y="1414272"/>
                    </a:lnTo>
                    <a:cubicBezTo>
                      <a:pt x="335943" y="1414272"/>
                      <a:pt x="219652" y="1366103"/>
                      <a:pt x="133911" y="1280361"/>
                    </a:cubicBezTo>
                    <a:cubicBezTo>
                      <a:pt x="48169" y="1194620"/>
                      <a:pt x="0" y="1078329"/>
                      <a:pt x="0" y="957072"/>
                    </a:cubicBezTo>
                    <a:lnTo>
                      <a:pt x="0" y="457200"/>
                    </a:ln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3830" r="0" b="-13830"/>
                </a:stretch>
              </a:blip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47625"/>
                <a:ext cx="4632960" cy="146189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760"/>
                  </a:lnSpc>
                </a:pPr>
                <a:r>
                  <a:rPr lang="en-US" sz="2300">
                    <a:solidFill>
                      <a:srgbClr val="22C55E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✓ Any shape</a:t>
                </a: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0">
              <a:off x="0" y="2787231"/>
              <a:ext cx="5154511" cy="1448143"/>
              <a:chOff x="0" y="0"/>
              <a:chExt cx="5154511" cy="1448143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16891" y="16891"/>
                <a:ext cx="5120640" cy="1414272"/>
              </a:xfrm>
              <a:custGeom>
                <a:avLst/>
                <a:gdLst/>
                <a:ahLst/>
                <a:cxnLst/>
                <a:rect r="r" b="b" t="t" l="l"/>
                <a:pathLst>
                  <a:path h="1414272" w="5120640">
                    <a:moveTo>
                      <a:pt x="0" y="0"/>
                    </a:moveTo>
                    <a:lnTo>
                      <a:pt x="5120640" y="0"/>
                    </a:lnTo>
                    <a:lnTo>
                      <a:pt x="5120640" y="1414272"/>
                    </a:lnTo>
                    <a:lnTo>
                      <a:pt x="0" y="1414272"/>
                    </a:lnTo>
                    <a:close/>
                  </a:path>
                </a:pathLst>
              </a:custGeom>
              <a:solidFill>
                <a:srgbClr val="0A2030"/>
              </a:solidFill>
            </p:spPr>
          </p:sp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5154422" cy="1448054"/>
              </a:xfrm>
              <a:custGeom>
                <a:avLst/>
                <a:gdLst/>
                <a:ahLst/>
                <a:cxnLst/>
                <a:rect r="r" b="b" t="t" l="l"/>
                <a:pathLst>
                  <a:path h="1448054" w="5154422">
                    <a:moveTo>
                      <a:pt x="16891" y="0"/>
                    </a:moveTo>
                    <a:lnTo>
                      <a:pt x="5137531" y="0"/>
                    </a:lnTo>
                    <a:cubicBezTo>
                      <a:pt x="5146929" y="0"/>
                      <a:pt x="5154422" y="7620"/>
                      <a:pt x="5154422" y="16891"/>
                    </a:cubicBezTo>
                    <a:lnTo>
                      <a:pt x="5154422" y="1431163"/>
                    </a:lnTo>
                    <a:cubicBezTo>
                      <a:pt x="5154422" y="1440561"/>
                      <a:pt x="5146802" y="1448054"/>
                      <a:pt x="5137531" y="1448054"/>
                    </a:cubicBezTo>
                    <a:lnTo>
                      <a:pt x="16891" y="1448054"/>
                    </a:lnTo>
                    <a:cubicBezTo>
                      <a:pt x="7493" y="1448054"/>
                      <a:pt x="0" y="1440434"/>
                      <a:pt x="0" y="1431163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431163"/>
                    </a:lnTo>
                    <a:lnTo>
                      <a:pt x="16891" y="1431163"/>
                    </a:lnTo>
                    <a:lnTo>
                      <a:pt x="16891" y="1414272"/>
                    </a:lnTo>
                    <a:lnTo>
                      <a:pt x="5137531" y="1414272"/>
                    </a:lnTo>
                    <a:lnTo>
                      <a:pt x="5137531" y="1431163"/>
                    </a:lnTo>
                    <a:lnTo>
                      <a:pt x="5120640" y="1431163"/>
                    </a:lnTo>
                    <a:lnTo>
                      <a:pt x="5120640" y="16891"/>
                    </a:lnTo>
                    <a:lnTo>
                      <a:pt x="5137531" y="16891"/>
                    </a:lnTo>
                    <a:lnTo>
                      <a:pt x="513753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2E44"/>
              </a:solidFill>
            </p:spPr>
          </p:sp>
        </p:grpSp>
        <p:grpSp>
          <p:nvGrpSpPr>
            <p:cNvPr name="Group 56" id="56"/>
            <p:cNvGrpSpPr/>
            <p:nvPr/>
          </p:nvGrpSpPr>
          <p:grpSpPr>
            <a:xfrm rot="0">
              <a:off x="260769" y="2804160"/>
              <a:ext cx="4632960" cy="1414272"/>
              <a:chOff x="0" y="0"/>
              <a:chExt cx="4632960" cy="1414272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4632960" cy="1414272"/>
              </a:xfrm>
              <a:custGeom>
                <a:avLst/>
                <a:gdLst/>
                <a:ahLst/>
                <a:cxnLst/>
                <a:rect r="r" b="b" t="t" l="l"/>
                <a:pathLst>
                  <a:path h="1414272" w="4632960">
                    <a:moveTo>
                      <a:pt x="457200" y="0"/>
                    </a:moveTo>
                    <a:lnTo>
                      <a:pt x="4175760" y="0"/>
                    </a:lnTo>
                    <a:cubicBezTo>
                      <a:pt x="4428265" y="0"/>
                      <a:pt x="4632960" y="204695"/>
                      <a:pt x="4632960" y="457200"/>
                    </a:cubicBezTo>
                    <a:lnTo>
                      <a:pt x="4632960" y="957072"/>
                    </a:lnTo>
                    <a:cubicBezTo>
                      <a:pt x="4632960" y="1078329"/>
                      <a:pt x="4584791" y="1194620"/>
                      <a:pt x="4499049" y="1280361"/>
                    </a:cubicBezTo>
                    <a:cubicBezTo>
                      <a:pt x="4413307" y="1366103"/>
                      <a:pt x="4297017" y="1414272"/>
                      <a:pt x="4175760" y="1414272"/>
                    </a:cubicBezTo>
                    <a:lnTo>
                      <a:pt x="457200" y="1414272"/>
                    </a:lnTo>
                    <a:cubicBezTo>
                      <a:pt x="335943" y="1414272"/>
                      <a:pt x="219652" y="1366103"/>
                      <a:pt x="133911" y="1280361"/>
                    </a:cubicBezTo>
                    <a:cubicBezTo>
                      <a:pt x="48169" y="1194620"/>
                      <a:pt x="0" y="1078329"/>
                      <a:pt x="0" y="957072"/>
                    </a:cubicBezTo>
                    <a:lnTo>
                      <a:pt x="0" y="457200"/>
                    </a:ln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3830" r="0" b="-13830"/>
                </a:stretch>
              </a:blipFill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0" y="-47625"/>
                <a:ext cx="4632960" cy="146189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760"/>
                  </a:lnSpc>
                </a:pPr>
                <a:r>
                  <a:rPr lang="en-US" sz="2300">
                    <a:solidFill>
                      <a:srgbClr val="22C55E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✓ Built-in</a:t>
                </a:r>
              </a:p>
            </p:txBody>
          </p:sp>
        </p:grpSp>
        <p:grpSp>
          <p:nvGrpSpPr>
            <p:cNvPr name="Group 59" id="59"/>
            <p:cNvGrpSpPr/>
            <p:nvPr/>
          </p:nvGrpSpPr>
          <p:grpSpPr>
            <a:xfrm rot="0">
              <a:off x="0" y="4299039"/>
              <a:ext cx="5154511" cy="1448143"/>
              <a:chOff x="0" y="0"/>
              <a:chExt cx="5154511" cy="1448143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16891" y="16891"/>
                <a:ext cx="5120640" cy="1414272"/>
              </a:xfrm>
              <a:custGeom>
                <a:avLst/>
                <a:gdLst/>
                <a:ahLst/>
                <a:cxnLst/>
                <a:rect r="r" b="b" t="t" l="l"/>
                <a:pathLst>
                  <a:path h="1414272" w="5120640">
                    <a:moveTo>
                      <a:pt x="0" y="0"/>
                    </a:moveTo>
                    <a:lnTo>
                      <a:pt x="5120640" y="0"/>
                    </a:lnTo>
                    <a:lnTo>
                      <a:pt x="5120640" y="1414272"/>
                    </a:lnTo>
                    <a:lnTo>
                      <a:pt x="0" y="1414272"/>
                    </a:lnTo>
                    <a:close/>
                  </a:path>
                </a:pathLst>
              </a:custGeom>
              <a:solidFill>
                <a:srgbClr val="0A2030"/>
              </a:solidFill>
            </p:spPr>
          </p:sp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5154422" cy="1448054"/>
              </a:xfrm>
              <a:custGeom>
                <a:avLst/>
                <a:gdLst/>
                <a:ahLst/>
                <a:cxnLst/>
                <a:rect r="r" b="b" t="t" l="l"/>
                <a:pathLst>
                  <a:path h="1448054" w="5154422">
                    <a:moveTo>
                      <a:pt x="16891" y="0"/>
                    </a:moveTo>
                    <a:lnTo>
                      <a:pt x="5137531" y="0"/>
                    </a:lnTo>
                    <a:cubicBezTo>
                      <a:pt x="5146929" y="0"/>
                      <a:pt x="5154422" y="7620"/>
                      <a:pt x="5154422" y="16891"/>
                    </a:cubicBezTo>
                    <a:lnTo>
                      <a:pt x="5154422" y="1431163"/>
                    </a:lnTo>
                    <a:cubicBezTo>
                      <a:pt x="5154422" y="1440561"/>
                      <a:pt x="5146802" y="1448054"/>
                      <a:pt x="5137531" y="1448054"/>
                    </a:cubicBezTo>
                    <a:lnTo>
                      <a:pt x="16891" y="1448054"/>
                    </a:lnTo>
                    <a:cubicBezTo>
                      <a:pt x="7493" y="1448054"/>
                      <a:pt x="0" y="1440434"/>
                      <a:pt x="0" y="1431163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431163"/>
                    </a:lnTo>
                    <a:lnTo>
                      <a:pt x="16891" y="1431163"/>
                    </a:lnTo>
                    <a:lnTo>
                      <a:pt x="16891" y="1414272"/>
                    </a:lnTo>
                    <a:lnTo>
                      <a:pt x="5137531" y="1414272"/>
                    </a:lnTo>
                    <a:lnTo>
                      <a:pt x="5137531" y="1431163"/>
                    </a:lnTo>
                    <a:lnTo>
                      <a:pt x="5120640" y="1431163"/>
                    </a:lnTo>
                    <a:lnTo>
                      <a:pt x="5120640" y="16891"/>
                    </a:lnTo>
                    <a:lnTo>
                      <a:pt x="5137531" y="16891"/>
                    </a:lnTo>
                    <a:lnTo>
                      <a:pt x="513753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2E44"/>
              </a:solidFill>
            </p:spPr>
          </p:sp>
        </p:grpSp>
        <p:grpSp>
          <p:nvGrpSpPr>
            <p:cNvPr name="Group 62" id="62"/>
            <p:cNvGrpSpPr/>
            <p:nvPr/>
          </p:nvGrpSpPr>
          <p:grpSpPr>
            <a:xfrm rot="0">
              <a:off x="260769" y="4315968"/>
              <a:ext cx="4632960" cy="1414272"/>
              <a:chOff x="0" y="0"/>
              <a:chExt cx="4632960" cy="1414272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4632960" cy="1414272"/>
              </a:xfrm>
              <a:custGeom>
                <a:avLst/>
                <a:gdLst/>
                <a:ahLst/>
                <a:cxnLst/>
                <a:rect r="r" b="b" t="t" l="l"/>
                <a:pathLst>
                  <a:path h="1414272" w="4632960">
                    <a:moveTo>
                      <a:pt x="457200" y="0"/>
                    </a:moveTo>
                    <a:lnTo>
                      <a:pt x="4175760" y="0"/>
                    </a:lnTo>
                    <a:cubicBezTo>
                      <a:pt x="4428265" y="0"/>
                      <a:pt x="4632960" y="204695"/>
                      <a:pt x="4632960" y="457200"/>
                    </a:cubicBezTo>
                    <a:lnTo>
                      <a:pt x="4632960" y="957072"/>
                    </a:lnTo>
                    <a:cubicBezTo>
                      <a:pt x="4632960" y="1078329"/>
                      <a:pt x="4584791" y="1194620"/>
                      <a:pt x="4499049" y="1280361"/>
                    </a:cubicBezTo>
                    <a:cubicBezTo>
                      <a:pt x="4413307" y="1366103"/>
                      <a:pt x="4297017" y="1414272"/>
                      <a:pt x="4175760" y="1414272"/>
                    </a:cubicBezTo>
                    <a:lnTo>
                      <a:pt x="457200" y="1414272"/>
                    </a:lnTo>
                    <a:cubicBezTo>
                      <a:pt x="335943" y="1414272"/>
                      <a:pt x="219652" y="1366103"/>
                      <a:pt x="133911" y="1280361"/>
                    </a:cubicBezTo>
                    <a:cubicBezTo>
                      <a:pt x="48169" y="1194620"/>
                      <a:pt x="0" y="1078329"/>
                      <a:pt x="0" y="957072"/>
                    </a:cubicBezTo>
                    <a:lnTo>
                      <a:pt x="0" y="457200"/>
                    </a:ln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3830" r="0" b="-13830"/>
                </a:stretch>
              </a:blipFill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47625"/>
                <a:ext cx="4632960" cy="146189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760"/>
                  </a:lnSpc>
                </a:pPr>
                <a:r>
                  <a:rPr lang="en-US" sz="2300">
                    <a:solidFill>
                      <a:srgbClr val="22C55E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✓ Auto-detected</a:t>
                </a:r>
              </a:p>
            </p:txBody>
          </p:sp>
        </p:grpSp>
        <p:grpSp>
          <p:nvGrpSpPr>
            <p:cNvPr name="Group 65" id="65"/>
            <p:cNvGrpSpPr/>
            <p:nvPr/>
          </p:nvGrpSpPr>
          <p:grpSpPr>
            <a:xfrm rot="0">
              <a:off x="0" y="5810847"/>
              <a:ext cx="5154511" cy="1448143"/>
              <a:chOff x="0" y="0"/>
              <a:chExt cx="5154511" cy="1448143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16891" y="16891"/>
                <a:ext cx="5120640" cy="1414272"/>
              </a:xfrm>
              <a:custGeom>
                <a:avLst/>
                <a:gdLst/>
                <a:ahLst/>
                <a:cxnLst/>
                <a:rect r="r" b="b" t="t" l="l"/>
                <a:pathLst>
                  <a:path h="1414272" w="5120640">
                    <a:moveTo>
                      <a:pt x="0" y="0"/>
                    </a:moveTo>
                    <a:lnTo>
                      <a:pt x="5120640" y="0"/>
                    </a:lnTo>
                    <a:lnTo>
                      <a:pt x="5120640" y="1414272"/>
                    </a:lnTo>
                    <a:lnTo>
                      <a:pt x="0" y="1414272"/>
                    </a:lnTo>
                    <a:close/>
                  </a:path>
                </a:pathLst>
              </a:custGeom>
              <a:solidFill>
                <a:srgbClr val="0A2030"/>
              </a:solidFill>
            </p:spPr>
          </p:sp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5154422" cy="1448054"/>
              </a:xfrm>
              <a:custGeom>
                <a:avLst/>
                <a:gdLst/>
                <a:ahLst/>
                <a:cxnLst/>
                <a:rect r="r" b="b" t="t" l="l"/>
                <a:pathLst>
                  <a:path h="1448054" w="5154422">
                    <a:moveTo>
                      <a:pt x="16891" y="0"/>
                    </a:moveTo>
                    <a:lnTo>
                      <a:pt x="5137531" y="0"/>
                    </a:lnTo>
                    <a:cubicBezTo>
                      <a:pt x="5146929" y="0"/>
                      <a:pt x="5154422" y="7620"/>
                      <a:pt x="5154422" y="16891"/>
                    </a:cubicBezTo>
                    <a:lnTo>
                      <a:pt x="5154422" y="1431163"/>
                    </a:lnTo>
                    <a:cubicBezTo>
                      <a:pt x="5154422" y="1440561"/>
                      <a:pt x="5146802" y="1448054"/>
                      <a:pt x="5137531" y="1448054"/>
                    </a:cubicBezTo>
                    <a:lnTo>
                      <a:pt x="16891" y="1448054"/>
                    </a:lnTo>
                    <a:cubicBezTo>
                      <a:pt x="7493" y="1448054"/>
                      <a:pt x="0" y="1440434"/>
                      <a:pt x="0" y="1431163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431163"/>
                    </a:lnTo>
                    <a:lnTo>
                      <a:pt x="16891" y="1431163"/>
                    </a:lnTo>
                    <a:lnTo>
                      <a:pt x="16891" y="1414272"/>
                    </a:lnTo>
                    <a:lnTo>
                      <a:pt x="5137531" y="1414272"/>
                    </a:lnTo>
                    <a:lnTo>
                      <a:pt x="5137531" y="1431163"/>
                    </a:lnTo>
                    <a:lnTo>
                      <a:pt x="5120640" y="1431163"/>
                    </a:lnTo>
                    <a:lnTo>
                      <a:pt x="5120640" y="16891"/>
                    </a:lnTo>
                    <a:lnTo>
                      <a:pt x="5137531" y="16891"/>
                    </a:lnTo>
                    <a:lnTo>
                      <a:pt x="513753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2E44"/>
              </a:solidFill>
            </p:spPr>
          </p:sp>
        </p:grpSp>
        <p:grpSp>
          <p:nvGrpSpPr>
            <p:cNvPr name="Group 68" id="68"/>
            <p:cNvGrpSpPr/>
            <p:nvPr/>
          </p:nvGrpSpPr>
          <p:grpSpPr>
            <a:xfrm rot="0">
              <a:off x="260769" y="5827776"/>
              <a:ext cx="4632960" cy="1414272"/>
              <a:chOff x="0" y="0"/>
              <a:chExt cx="4632960" cy="1414272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4632960" cy="1414272"/>
              </a:xfrm>
              <a:custGeom>
                <a:avLst/>
                <a:gdLst/>
                <a:ahLst/>
                <a:cxnLst/>
                <a:rect r="r" b="b" t="t" l="l"/>
                <a:pathLst>
                  <a:path h="1414272" w="4632960">
                    <a:moveTo>
                      <a:pt x="457200" y="0"/>
                    </a:moveTo>
                    <a:lnTo>
                      <a:pt x="4175760" y="0"/>
                    </a:lnTo>
                    <a:cubicBezTo>
                      <a:pt x="4428265" y="0"/>
                      <a:pt x="4632960" y="204695"/>
                      <a:pt x="4632960" y="457200"/>
                    </a:cubicBezTo>
                    <a:lnTo>
                      <a:pt x="4632960" y="957072"/>
                    </a:lnTo>
                    <a:cubicBezTo>
                      <a:pt x="4632960" y="1078329"/>
                      <a:pt x="4584791" y="1194620"/>
                      <a:pt x="4499049" y="1280361"/>
                    </a:cubicBezTo>
                    <a:cubicBezTo>
                      <a:pt x="4413307" y="1366103"/>
                      <a:pt x="4297017" y="1414272"/>
                      <a:pt x="4175760" y="1414272"/>
                    </a:cubicBezTo>
                    <a:lnTo>
                      <a:pt x="457200" y="1414272"/>
                    </a:lnTo>
                    <a:cubicBezTo>
                      <a:pt x="335943" y="1414272"/>
                      <a:pt x="219652" y="1366103"/>
                      <a:pt x="133911" y="1280361"/>
                    </a:cubicBezTo>
                    <a:cubicBezTo>
                      <a:pt x="48169" y="1194620"/>
                      <a:pt x="0" y="1078329"/>
                      <a:pt x="0" y="957072"/>
                    </a:cubicBezTo>
                    <a:lnTo>
                      <a:pt x="0" y="457200"/>
                    </a:ln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3830" r="0" b="-13830"/>
                </a:stretch>
              </a:blipFill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0" y="-47625"/>
                <a:ext cx="4632960" cy="146189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760"/>
                  </a:lnSpc>
                </a:pPr>
                <a:r>
                  <a:rPr lang="en-US" sz="2300">
                    <a:solidFill>
                      <a:srgbClr val="F5C518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~ Medium datasets</a:t>
                </a:r>
              </a:p>
            </p:txBody>
          </p:sp>
        </p:grpSp>
        <p:grpSp>
          <p:nvGrpSpPr>
            <p:cNvPr name="Group 71" id="71"/>
            <p:cNvGrpSpPr/>
            <p:nvPr/>
          </p:nvGrpSpPr>
          <p:grpSpPr>
            <a:xfrm rot="0">
              <a:off x="0" y="7322655"/>
              <a:ext cx="5154511" cy="1448143"/>
              <a:chOff x="0" y="0"/>
              <a:chExt cx="5154511" cy="1448143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16891" y="16891"/>
                <a:ext cx="5120640" cy="1414272"/>
              </a:xfrm>
              <a:custGeom>
                <a:avLst/>
                <a:gdLst/>
                <a:ahLst/>
                <a:cxnLst/>
                <a:rect r="r" b="b" t="t" l="l"/>
                <a:pathLst>
                  <a:path h="1414272" w="5120640">
                    <a:moveTo>
                      <a:pt x="0" y="0"/>
                    </a:moveTo>
                    <a:lnTo>
                      <a:pt x="5120640" y="0"/>
                    </a:lnTo>
                    <a:lnTo>
                      <a:pt x="5120640" y="1414272"/>
                    </a:lnTo>
                    <a:lnTo>
                      <a:pt x="0" y="1414272"/>
                    </a:lnTo>
                    <a:close/>
                  </a:path>
                </a:pathLst>
              </a:custGeom>
              <a:solidFill>
                <a:srgbClr val="0A2030"/>
              </a:solidFill>
            </p:spPr>
          </p:sp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5154422" cy="1448054"/>
              </a:xfrm>
              <a:custGeom>
                <a:avLst/>
                <a:gdLst/>
                <a:ahLst/>
                <a:cxnLst/>
                <a:rect r="r" b="b" t="t" l="l"/>
                <a:pathLst>
                  <a:path h="1448054" w="5154422">
                    <a:moveTo>
                      <a:pt x="16891" y="0"/>
                    </a:moveTo>
                    <a:lnTo>
                      <a:pt x="5137531" y="0"/>
                    </a:lnTo>
                    <a:cubicBezTo>
                      <a:pt x="5146929" y="0"/>
                      <a:pt x="5154422" y="7620"/>
                      <a:pt x="5154422" y="16891"/>
                    </a:cubicBezTo>
                    <a:lnTo>
                      <a:pt x="5154422" y="1431163"/>
                    </a:lnTo>
                    <a:cubicBezTo>
                      <a:pt x="5154422" y="1440561"/>
                      <a:pt x="5146802" y="1448054"/>
                      <a:pt x="5137531" y="1448054"/>
                    </a:cubicBezTo>
                    <a:lnTo>
                      <a:pt x="16891" y="1448054"/>
                    </a:lnTo>
                    <a:cubicBezTo>
                      <a:pt x="7493" y="1448054"/>
                      <a:pt x="0" y="1440434"/>
                      <a:pt x="0" y="1431163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431163"/>
                    </a:lnTo>
                    <a:lnTo>
                      <a:pt x="16891" y="1431163"/>
                    </a:lnTo>
                    <a:lnTo>
                      <a:pt x="16891" y="1414272"/>
                    </a:lnTo>
                    <a:lnTo>
                      <a:pt x="5137531" y="1414272"/>
                    </a:lnTo>
                    <a:lnTo>
                      <a:pt x="5137531" y="1431163"/>
                    </a:lnTo>
                    <a:lnTo>
                      <a:pt x="5120640" y="1431163"/>
                    </a:lnTo>
                    <a:lnTo>
                      <a:pt x="5120640" y="16891"/>
                    </a:lnTo>
                    <a:lnTo>
                      <a:pt x="5137531" y="16891"/>
                    </a:lnTo>
                    <a:lnTo>
                      <a:pt x="513753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2E44"/>
              </a:solidFill>
            </p:spPr>
          </p:sp>
        </p:grpSp>
        <p:grpSp>
          <p:nvGrpSpPr>
            <p:cNvPr name="Group 74" id="74"/>
            <p:cNvGrpSpPr/>
            <p:nvPr/>
          </p:nvGrpSpPr>
          <p:grpSpPr>
            <a:xfrm rot="0">
              <a:off x="260769" y="7339584"/>
              <a:ext cx="4632960" cy="1414272"/>
              <a:chOff x="0" y="0"/>
              <a:chExt cx="4632960" cy="1414272"/>
            </a:xfrm>
          </p:grpSpPr>
          <p:sp>
            <p:nvSpPr>
              <p:cNvPr name="Freeform 75" id="75"/>
              <p:cNvSpPr/>
              <p:nvPr/>
            </p:nvSpPr>
            <p:spPr>
              <a:xfrm flipH="false" flipV="false" rot="0">
                <a:off x="0" y="0"/>
                <a:ext cx="4632960" cy="1414272"/>
              </a:xfrm>
              <a:custGeom>
                <a:avLst/>
                <a:gdLst/>
                <a:ahLst/>
                <a:cxnLst/>
                <a:rect r="r" b="b" t="t" l="l"/>
                <a:pathLst>
                  <a:path h="1414272" w="4632960">
                    <a:moveTo>
                      <a:pt x="457200" y="0"/>
                    </a:moveTo>
                    <a:lnTo>
                      <a:pt x="4175760" y="0"/>
                    </a:lnTo>
                    <a:cubicBezTo>
                      <a:pt x="4428265" y="0"/>
                      <a:pt x="4632960" y="204695"/>
                      <a:pt x="4632960" y="457200"/>
                    </a:cubicBezTo>
                    <a:lnTo>
                      <a:pt x="4632960" y="957072"/>
                    </a:lnTo>
                    <a:cubicBezTo>
                      <a:pt x="4632960" y="1078329"/>
                      <a:pt x="4584791" y="1194620"/>
                      <a:pt x="4499049" y="1280361"/>
                    </a:cubicBezTo>
                    <a:cubicBezTo>
                      <a:pt x="4413307" y="1366103"/>
                      <a:pt x="4297017" y="1414272"/>
                      <a:pt x="4175760" y="1414272"/>
                    </a:cubicBezTo>
                    <a:lnTo>
                      <a:pt x="457200" y="1414272"/>
                    </a:lnTo>
                    <a:cubicBezTo>
                      <a:pt x="335943" y="1414272"/>
                      <a:pt x="219652" y="1366103"/>
                      <a:pt x="133911" y="1280361"/>
                    </a:cubicBezTo>
                    <a:cubicBezTo>
                      <a:pt x="48169" y="1194620"/>
                      <a:pt x="0" y="1078329"/>
                      <a:pt x="0" y="957072"/>
                    </a:cubicBezTo>
                    <a:lnTo>
                      <a:pt x="0" y="457200"/>
                    </a:ln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3830" r="0" b="-13830"/>
                </a:stretch>
              </a:blipFill>
            </p:spPr>
          </p:sp>
          <p:sp>
            <p:nvSpPr>
              <p:cNvPr name="TextBox 76" id="76"/>
              <p:cNvSpPr txBox="true"/>
              <p:nvPr/>
            </p:nvSpPr>
            <p:spPr>
              <a:xfrm>
                <a:off x="0" y="-47625"/>
                <a:ext cx="4632960" cy="146189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760"/>
                  </a:lnSpc>
                </a:pPr>
                <a:r>
                  <a:rPr lang="en-US" sz="2300">
                    <a:solidFill>
                      <a:srgbClr val="F5C518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~ Moderate</a:t>
                </a:r>
              </a:p>
            </p:txBody>
          </p:sp>
        </p:grpSp>
      </p:grpSp>
      <p:grpSp>
        <p:nvGrpSpPr>
          <p:cNvPr name="Group 77" id="77"/>
          <p:cNvGrpSpPr/>
          <p:nvPr/>
        </p:nvGrpSpPr>
        <p:grpSpPr>
          <a:xfrm rot="0">
            <a:off x="12304090" y="2288791"/>
            <a:ext cx="3865883" cy="6578098"/>
            <a:chOff x="0" y="0"/>
            <a:chExt cx="5154511" cy="8770798"/>
          </a:xfrm>
        </p:grpSpPr>
        <p:grpSp>
          <p:nvGrpSpPr>
            <p:cNvPr name="Group 78" id="78"/>
            <p:cNvGrpSpPr/>
            <p:nvPr/>
          </p:nvGrpSpPr>
          <p:grpSpPr>
            <a:xfrm rot="0">
              <a:off x="16929" y="0"/>
              <a:ext cx="5120640" cy="1219200"/>
              <a:chOff x="0" y="0"/>
              <a:chExt cx="5120640" cy="1219200"/>
            </a:xfrm>
          </p:grpSpPr>
          <p:sp>
            <p:nvSpPr>
              <p:cNvPr name="Freeform 79" id="79"/>
              <p:cNvSpPr/>
              <p:nvPr/>
            </p:nvSpPr>
            <p:spPr>
              <a:xfrm flipH="false" flipV="false" rot="0">
                <a:off x="0" y="0"/>
                <a:ext cx="5120640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5120640">
                    <a:moveTo>
                      <a:pt x="457200" y="0"/>
                    </a:moveTo>
                    <a:lnTo>
                      <a:pt x="4663440" y="0"/>
                    </a:lnTo>
                    <a:cubicBezTo>
                      <a:pt x="4784697" y="0"/>
                      <a:pt x="4900988" y="48169"/>
                      <a:pt x="4986729" y="133911"/>
                    </a:cubicBezTo>
                    <a:cubicBezTo>
                      <a:pt x="5072471" y="219652"/>
                      <a:pt x="5120640" y="335943"/>
                      <a:pt x="5120640" y="457200"/>
                    </a:cubicBezTo>
                    <a:lnTo>
                      <a:pt x="5120640" y="762000"/>
                    </a:lnTo>
                    <a:cubicBezTo>
                      <a:pt x="5120640" y="1014505"/>
                      <a:pt x="4915945" y="1219200"/>
                      <a:pt x="4663440" y="1219200"/>
                    </a:cubicBezTo>
                    <a:lnTo>
                      <a:pt x="457200" y="1219200"/>
                    </a:lnTo>
                    <a:cubicBezTo>
                      <a:pt x="204695" y="1219200"/>
                      <a:pt x="0" y="1014505"/>
                      <a:pt x="0" y="762000"/>
                    </a:cubicBezTo>
                    <a:lnTo>
                      <a:pt x="0" y="457200"/>
                    </a:ln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solidFill>
                <a:srgbClr val="1A2240"/>
              </a:solidFill>
            </p:spPr>
          </p:sp>
        </p:grpSp>
        <p:grpSp>
          <p:nvGrpSpPr>
            <p:cNvPr name="Group 80" id="80"/>
            <p:cNvGrpSpPr/>
            <p:nvPr/>
          </p:nvGrpSpPr>
          <p:grpSpPr>
            <a:xfrm rot="0">
              <a:off x="212001" y="0"/>
              <a:ext cx="4730496" cy="1219200"/>
              <a:chOff x="0" y="0"/>
              <a:chExt cx="4730496" cy="1219200"/>
            </a:xfrm>
          </p:grpSpPr>
          <p:sp>
            <p:nvSpPr>
              <p:cNvPr name="Freeform 81" id="81"/>
              <p:cNvSpPr/>
              <p:nvPr/>
            </p:nvSpPr>
            <p:spPr>
              <a:xfrm flipH="false" flipV="false" rot="0">
                <a:off x="0" y="0"/>
                <a:ext cx="4730496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4730496">
                    <a:moveTo>
                      <a:pt x="457200" y="0"/>
                    </a:moveTo>
                    <a:lnTo>
                      <a:pt x="4273296" y="0"/>
                    </a:lnTo>
                    <a:cubicBezTo>
                      <a:pt x="4394553" y="0"/>
                      <a:pt x="4510844" y="48169"/>
                      <a:pt x="4596585" y="133911"/>
                    </a:cubicBezTo>
                    <a:cubicBezTo>
                      <a:pt x="4682327" y="219652"/>
                      <a:pt x="4730496" y="335943"/>
                      <a:pt x="4730496" y="457200"/>
                    </a:cubicBezTo>
                    <a:lnTo>
                      <a:pt x="4730496" y="762000"/>
                    </a:lnTo>
                    <a:cubicBezTo>
                      <a:pt x="4730496" y="1014505"/>
                      <a:pt x="4525801" y="1219200"/>
                      <a:pt x="4273296" y="1219200"/>
                    </a:cubicBezTo>
                    <a:lnTo>
                      <a:pt x="457200" y="1219200"/>
                    </a:lnTo>
                    <a:cubicBezTo>
                      <a:pt x="204695" y="1219200"/>
                      <a:pt x="0" y="1014505"/>
                      <a:pt x="0" y="762000"/>
                    </a:cubicBezTo>
                    <a:lnTo>
                      <a:pt x="0" y="457200"/>
                    </a:ln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25601" r="0" b="-25601"/>
                </a:stretch>
              </a:blipFill>
            </p:spPr>
          </p:sp>
          <p:sp>
            <p:nvSpPr>
              <p:cNvPr name="TextBox 82" id="82"/>
              <p:cNvSpPr txBox="true"/>
              <p:nvPr/>
            </p:nvSpPr>
            <p:spPr>
              <a:xfrm>
                <a:off x="0" y="-57150"/>
                <a:ext cx="4730496" cy="12763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K-Means</a:t>
                </a:r>
              </a:p>
            </p:txBody>
          </p:sp>
        </p:grpSp>
        <p:grpSp>
          <p:nvGrpSpPr>
            <p:cNvPr name="Group 83" id="83"/>
            <p:cNvGrpSpPr/>
            <p:nvPr/>
          </p:nvGrpSpPr>
          <p:grpSpPr>
            <a:xfrm rot="0">
              <a:off x="0" y="1275423"/>
              <a:ext cx="5154511" cy="1448143"/>
              <a:chOff x="0" y="0"/>
              <a:chExt cx="5154511" cy="1448143"/>
            </a:xfrm>
          </p:grpSpPr>
          <p:sp>
            <p:nvSpPr>
              <p:cNvPr name="Freeform 84" id="84"/>
              <p:cNvSpPr/>
              <p:nvPr/>
            </p:nvSpPr>
            <p:spPr>
              <a:xfrm flipH="false" flipV="false" rot="0">
                <a:off x="16891" y="16891"/>
                <a:ext cx="5120640" cy="1414272"/>
              </a:xfrm>
              <a:custGeom>
                <a:avLst/>
                <a:gdLst/>
                <a:ahLst/>
                <a:cxnLst/>
                <a:rect r="r" b="b" t="t" l="l"/>
                <a:pathLst>
                  <a:path h="1414272" w="5120640">
                    <a:moveTo>
                      <a:pt x="0" y="0"/>
                    </a:moveTo>
                    <a:lnTo>
                      <a:pt x="5120640" y="0"/>
                    </a:lnTo>
                    <a:lnTo>
                      <a:pt x="5120640" y="1414272"/>
                    </a:lnTo>
                    <a:lnTo>
                      <a:pt x="0" y="1414272"/>
                    </a:lnTo>
                    <a:close/>
                  </a:path>
                </a:pathLst>
              </a:custGeom>
              <a:solidFill>
                <a:srgbClr val="162033"/>
              </a:solidFill>
            </p:spPr>
          </p:sp>
          <p:sp>
            <p:nvSpPr>
              <p:cNvPr name="Freeform 85" id="85"/>
              <p:cNvSpPr/>
              <p:nvPr/>
            </p:nvSpPr>
            <p:spPr>
              <a:xfrm flipH="false" flipV="false" rot="0">
                <a:off x="0" y="0"/>
                <a:ext cx="5154422" cy="1448054"/>
              </a:xfrm>
              <a:custGeom>
                <a:avLst/>
                <a:gdLst/>
                <a:ahLst/>
                <a:cxnLst/>
                <a:rect r="r" b="b" t="t" l="l"/>
                <a:pathLst>
                  <a:path h="1448054" w="5154422">
                    <a:moveTo>
                      <a:pt x="16891" y="0"/>
                    </a:moveTo>
                    <a:lnTo>
                      <a:pt x="5137531" y="0"/>
                    </a:lnTo>
                    <a:cubicBezTo>
                      <a:pt x="5146929" y="0"/>
                      <a:pt x="5154422" y="7620"/>
                      <a:pt x="5154422" y="16891"/>
                    </a:cubicBezTo>
                    <a:lnTo>
                      <a:pt x="5154422" y="1431163"/>
                    </a:lnTo>
                    <a:cubicBezTo>
                      <a:pt x="5154422" y="1440561"/>
                      <a:pt x="5146802" y="1448054"/>
                      <a:pt x="5137531" y="1448054"/>
                    </a:cubicBezTo>
                    <a:lnTo>
                      <a:pt x="16891" y="1448054"/>
                    </a:lnTo>
                    <a:cubicBezTo>
                      <a:pt x="7493" y="1448054"/>
                      <a:pt x="0" y="1440434"/>
                      <a:pt x="0" y="1431163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431163"/>
                    </a:lnTo>
                    <a:lnTo>
                      <a:pt x="16891" y="1431163"/>
                    </a:lnTo>
                    <a:lnTo>
                      <a:pt x="16891" y="1414272"/>
                    </a:lnTo>
                    <a:lnTo>
                      <a:pt x="5137531" y="1414272"/>
                    </a:lnTo>
                    <a:lnTo>
                      <a:pt x="5137531" y="1431163"/>
                    </a:lnTo>
                    <a:lnTo>
                      <a:pt x="5120640" y="1431163"/>
                    </a:lnTo>
                    <a:lnTo>
                      <a:pt x="5120640" y="16891"/>
                    </a:lnTo>
                    <a:lnTo>
                      <a:pt x="5137531" y="16891"/>
                    </a:lnTo>
                    <a:lnTo>
                      <a:pt x="513753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2E44"/>
              </a:solidFill>
            </p:spPr>
          </p:sp>
        </p:grpSp>
        <p:grpSp>
          <p:nvGrpSpPr>
            <p:cNvPr name="Group 86" id="86"/>
            <p:cNvGrpSpPr/>
            <p:nvPr/>
          </p:nvGrpSpPr>
          <p:grpSpPr>
            <a:xfrm rot="0">
              <a:off x="260769" y="1292352"/>
              <a:ext cx="4632960" cy="1414272"/>
              <a:chOff x="0" y="0"/>
              <a:chExt cx="4632960" cy="1414272"/>
            </a:xfrm>
          </p:grpSpPr>
          <p:sp>
            <p:nvSpPr>
              <p:cNvPr name="Freeform 87" id="87"/>
              <p:cNvSpPr/>
              <p:nvPr/>
            </p:nvSpPr>
            <p:spPr>
              <a:xfrm flipH="false" flipV="false" rot="0">
                <a:off x="0" y="0"/>
                <a:ext cx="4632960" cy="1414272"/>
              </a:xfrm>
              <a:custGeom>
                <a:avLst/>
                <a:gdLst/>
                <a:ahLst/>
                <a:cxnLst/>
                <a:rect r="r" b="b" t="t" l="l"/>
                <a:pathLst>
                  <a:path h="1414272" w="4632960">
                    <a:moveTo>
                      <a:pt x="457200" y="0"/>
                    </a:moveTo>
                    <a:lnTo>
                      <a:pt x="4175760" y="0"/>
                    </a:lnTo>
                    <a:cubicBezTo>
                      <a:pt x="4428265" y="0"/>
                      <a:pt x="4632960" y="204695"/>
                      <a:pt x="4632960" y="457200"/>
                    </a:cubicBezTo>
                    <a:lnTo>
                      <a:pt x="4632960" y="957072"/>
                    </a:lnTo>
                    <a:cubicBezTo>
                      <a:pt x="4632960" y="1078329"/>
                      <a:pt x="4584791" y="1194620"/>
                      <a:pt x="4499049" y="1280361"/>
                    </a:cubicBezTo>
                    <a:cubicBezTo>
                      <a:pt x="4413307" y="1366103"/>
                      <a:pt x="4297017" y="1414272"/>
                      <a:pt x="4175760" y="1414272"/>
                    </a:cubicBezTo>
                    <a:lnTo>
                      <a:pt x="457200" y="1414272"/>
                    </a:lnTo>
                    <a:cubicBezTo>
                      <a:pt x="335943" y="1414272"/>
                      <a:pt x="219652" y="1366103"/>
                      <a:pt x="133911" y="1280361"/>
                    </a:cubicBezTo>
                    <a:cubicBezTo>
                      <a:pt x="48169" y="1194620"/>
                      <a:pt x="0" y="1078329"/>
                      <a:pt x="0" y="957072"/>
                    </a:cubicBezTo>
                    <a:lnTo>
                      <a:pt x="0" y="457200"/>
                    </a:ln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3830" r="0" b="-13830"/>
                </a:stretch>
              </a:blipFill>
            </p:spPr>
          </p:sp>
          <p:sp>
            <p:nvSpPr>
              <p:cNvPr name="TextBox 88" id="88"/>
              <p:cNvSpPr txBox="true"/>
              <p:nvPr/>
            </p:nvSpPr>
            <p:spPr>
              <a:xfrm>
                <a:off x="0" y="-47625"/>
                <a:ext cx="4632960" cy="146189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760"/>
                  </a:lnSpc>
                </a:pPr>
                <a:r>
                  <a:rPr lang="en-US" sz="2300">
                    <a:solidFill>
                      <a:srgbClr val="EF4444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✗ Spherical only</a:t>
                </a:r>
              </a:p>
            </p:txBody>
          </p:sp>
        </p:grpSp>
        <p:grpSp>
          <p:nvGrpSpPr>
            <p:cNvPr name="Group 89" id="89"/>
            <p:cNvGrpSpPr/>
            <p:nvPr/>
          </p:nvGrpSpPr>
          <p:grpSpPr>
            <a:xfrm rot="0">
              <a:off x="0" y="2787231"/>
              <a:ext cx="5154511" cy="1448143"/>
              <a:chOff x="0" y="0"/>
              <a:chExt cx="5154511" cy="1448143"/>
            </a:xfrm>
          </p:grpSpPr>
          <p:sp>
            <p:nvSpPr>
              <p:cNvPr name="Freeform 90" id="90"/>
              <p:cNvSpPr/>
              <p:nvPr/>
            </p:nvSpPr>
            <p:spPr>
              <a:xfrm flipH="false" flipV="false" rot="0">
                <a:off x="16891" y="16891"/>
                <a:ext cx="5120640" cy="1414272"/>
              </a:xfrm>
              <a:custGeom>
                <a:avLst/>
                <a:gdLst/>
                <a:ahLst/>
                <a:cxnLst/>
                <a:rect r="r" b="b" t="t" l="l"/>
                <a:pathLst>
                  <a:path h="1414272" w="5120640">
                    <a:moveTo>
                      <a:pt x="0" y="0"/>
                    </a:moveTo>
                    <a:lnTo>
                      <a:pt x="5120640" y="0"/>
                    </a:lnTo>
                    <a:lnTo>
                      <a:pt x="5120640" y="1414272"/>
                    </a:lnTo>
                    <a:lnTo>
                      <a:pt x="0" y="1414272"/>
                    </a:lnTo>
                    <a:close/>
                  </a:path>
                </a:pathLst>
              </a:custGeom>
              <a:solidFill>
                <a:srgbClr val="13293F"/>
              </a:solidFill>
            </p:spPr>
          </p:sp>
          <p:sp>
            <p:nvSpPr>
              <p:cNvPr name="Freeform 91" id="91"/>
              <p:cNvSpPr/>
              <p:nvPr/>
            </p:nvSpPr>
            <p:spPr>
              <a:xfrm flipH="false" flipV="false" rot="0">
                <a:off x="0" y="0"/>
                <a:ext cx="5154422" cy="1448054"/>
              </a:xfrm>
              <a:custGeom>
                <a:avLst/>
                <a:gdLst/>
                <a:ahLst/>
                <a:cxnLst/>
                <a:rect r="r" b="b" t="t" l="l"/>
                <a:pathLst>
                  <a:path h="1448054" w="5154422">
                    <a:moveTo>
                      <a:pt x="16891" y="0"/>
                    </a:moveTo>
                    <a:lnTo>
                      <a:pt x="5137531" y="0"/>
                    </a:lnTo>
                    <a:cubicBezTo>
                      <a:pt x="5146929" y="0"/>
                      <a:pt x="5154422" y="7620"/>
                      <a:pt x="5154422" y="16891"/>
                    </a:cubicBezTo>
                    <a:lnTo>
                      <a:pt x="5154422" y="1431163"/>
                    </a:lnTo>
                    <a:cubicBezTo>
                      <a:pt x="5154422" y="1440561"/>
                      <a:pt x="5146802" y="1448054"/>
                      <a:pt x="5137531" y="1448054"/>
                    </a:cubicBezTo>
                    <a:lnTo>
                      <a:pt x="16891" y="1448054"/>
                    </a:lnTo>
                    <a:cubicBezTo>
                      <a:pt x="7493" y="1448054"/>
                      <a:pt x="0" y="1440434"/>
                      <a:pt x="0" y="1431163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431163"/>
                    </a:lnTo>
                    <a:lnTo>
                      <a:pt x="16891" y="1431163"/>
                    </a:lnTo>
                    <a:lnTo>
                      <a:pt x="16891" y="1414272"/>
                    </a:lnTo>
                    <a:lnTo>
                      <a:pt x="5137531" y="1414272"/>
                    </a:lnTo>
                    <a:lnTo>
                      <a:pt x="5137531" y="1431163"/>
                    </a:lnTo>
                    <a:lnTo>
                      <a:pt x="5120640" y="1431163"/>
                    </a:lnTo>
                    <a:lnTo>
                      <a:pt x="5120640" y="16891"/>
                    </a:lnTo>
                    <a:lnTo>
                      <a:pt x="5137531" y="16891"/>
                    </a:lnTo>
                    <a:lnTo>
                      <a:pt x="513753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2E44"/>
              </a:solidFill>
            </p:spPr>
          </p:sp>
        </p:grpSp>
        <p:grpSp>
          <p:nvGrpSpPr>
            <p:cNvPr name="Group 92" id="92"/>
            <p:cNvGrpSpPr/>
            <p:nvPr/>
          </p:nvGrpSpPr>
          <p:grpSpPr>
            <a:xfrm rot="0">
              <a:off x="260769" y="2804160"/>
              <a:ext cx="4632960" cy="1414272"/>
              <a:chOff x="0" y="0"/>
              <a:chExt cx="4632960" cy="1414272"/>
            </a:xfrm>
          </p:grpSpPr>
          <p:sp>
            <p:nvSpPr>
              <p:cNvPr name="Freeform 93" id="93"/>
              <p:cNvSpPr/>
              <p:nvPr/>
            </p:nvSpPr>
            <p:spPr>
              <a:xfrm flipH="false" flipV="false" rot="0">
                <a:off x="0" y="0"/>
                <a:ext cx="4632960" cy="1414272"/>
              </a:xfrm>
              <a:custGeom>
                <a:avLst/>
                <a:gdLst/>
                <a:ahLst/>
                <a:cxnLst/>
                <a:rect r="r" b="b" t="t" l="l"/>
                <a:pathLst>
                  <a:path h="1414272" w="4632960">
                    <a:moveTo>
                      <a:pt x="457200" y="0"/>
                    </a:moveTo>
                    <a:lnTo>
                      <a:pt x="4175760" y="0"/>
                    </a:lnTo>
                    <a:cubicBezTo>
                      <a:pt x="4428265" y="0"/>
                      <a:pt x="4632960" y="204695"/>
                      <a:pt x="4632960" y="457200"/>
                    </a:cubicBezTo>
                    <a:lnTo>
                      <a:pt x="4632960" y="957072"/>
                    </a:lnTo>
                    <a:cubicBezTo>
                      <a:pt x="4632960" y="1078329"/>
                      <a:pt x="4584791" y="1194620"/>
                      <a:pt x="4499049" y="1280361"/>
                    </a:cubicBezTo>
                    <a:cubicBezTo>
                      <a:pt x="4413307" y="1366103"/>
                      <a:pt x="4297017" y="1414272"/>
                      <a:pt x="4175760" y="1414272"/>
                    </a:cubicBezTo>
                    <a:lnTo>
                      <a:pt x="457200" y="1414272"/>
                    </a:lnTo>
                    <a:cubicBezTo>
                      <a:pt x="335943" y="1414272"/>
                      <a:pt x="219652" y="1366103"/>
                      <a:pt x="133911" y="1280361"/>
                    </a:cubicBezTo>
                    <a:cubicBezTo>
                      <a:pt x="48169" y="1194620"/>
                      <a:pt x="0" y="1078329"/>
                      <a:pt x="0" y="957072"/>
                    </a:cubicBezTo>
                    <a:lnTo>
                      <a:pt x="0" y="457200"/>
                    </a:ln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3830" r="0" b="-13830"/>
                </a:stretch>
              </a:blipFill>
            </p:spPr>
          </p:sp>
          <p:sp>
            <p:nvSpPr>
              <p:cNvPr name="TextBox 94" id="94"/>
              <p:cNvSpPr txBox="true"/>
              <p:nvPr/>
            </p:nvSpPr>
            <p:spPr>
              <a:xfrm>
                <a:off x="0" y="-47625"/>
                <a:ext cx="4632960" cy="146189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760"/>
                  </a:lnSpc>
                </a:pPr>
                <a:r>
                  <a:rPr lang="en-US" sz="2300">
                    <a:solidFill>
                      <a:srgbClr val="EF4444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✗ None</a:t>
                </a:r>
              </a:p>
            </p:txBody>
          </p:sp>
        </p:grpSp>
        <p:grpSp>
          <p:nvGrpSpPr>
            <p:cNvPr name="Group 95" id="95"/>
            <p:cNvGrpSpPr/>
            <p:nvPr/>
          </p:nvGrpSpPr>
          <p:grpSpPr>
            <a:xfrm rot="0">
              <a:off x="0" y="4299039"/>
              <a:ext cx="5154511" cy="1448143"/>
              <a:chOff x="0" y="0"/>
              <a:chExt cx="5154511" cy="1448143"/>
            </a:xfrm>
          </p:grpSpPr>
          <p:sp>
            <p:nvSpPr>
              <p:cNvPr name="Freeform 96" id="96"/>
              <p:cNvSpPr/>
              <p:nvPr/>
            </p:nvSpPr>
            <p:spPr>
              <a:xfrm flipH="false" flipV="false" rot="0">
                <a:off x="16891" y="16891"/>
                <a:ext cx="5120640" cy="1414272"/>
              </a:xfrm>
              <a:custGeom>
                <a:avLst/>
                <a:gdLst/>
                <a:ahLst/>
                <a:cxnLst/>
                <a:rect r="r" b="b" t="t" l="l"/>
                <a:pathLst>
                  <a:path h="1414272" w="5120640">
                    <a:moveTo>
                      <a:pt x="0" y="0"/>
                    </a:moveTo>
                    <a:lnTo>
                      <a:pt x="5120640" y="0"/>
                    </a:lnTo>
                    <a:lnTo>
                      <a:pt x="5120640" y="1414272"/>
                    </a:lnTo>
                    <a:lnTo>
                      <a:pt x="0" y="1414272"/>
                    </a:lnTo>
                    <a:close/>
                  </a:path>
                </a:pathLst>
              </a:custGeom>
              <a:solidFill>
                <a:srgbClr val="162033"/>
              </a:solidFill>
            </p:spPr>
          </p:sp>
          <p:sp>
            <p:nvSpPr>
              <p:cNvPr name="Freeform 97" id="97"/>
              <p:cNvSpPr/>
              <p:nvPr/>
            </p:nvSpPr>
            <p:spPr>
              <a:xfrm flipH="false" flipV="false" rot="0">
                <a:off x="0" y="0"/>
                <a:ext cx="5154422" cy="1448054"/>
              </a:xfrm>
              <a:custGeom>
                <a:avLst/>
                <a:gdLst/>
                <a:ahLst/>
                <a:cxnLst/>
                <a:rect r="r" b="b" t="t" l="l"/>
                <a:pathLst>
                  <a:path h="1448054" w="5154422">
                    <a:moveTo>
                      <a:pt x="16891" y="0"/>
                    </a:moveTo>
                    <a:lnTo>
                      <a:pt x="5137531" y="0"/>
                    </a:lnTo>
                    <a:cubicBezTo>
                      <a:pt x="5146929" y="0"/>
                      <a:pt x="5154422" y="7620"/>
                      <a:pt x="5154422" y="16891"/>
                    </a:cubicBezTo>
                    <a:lnTo>
                      <a:pt x="5154422" y="1431163"/>
                    </a:lnTo>
                    <a:cubicBezTo>
                      <a:pt x="5154422" y="1440561"/>
                      <a:pt x="5146802" y="1448054"/>
                      <a:pt x="5137531" y="1448054"/>
                    </a:cubicBezTo>
                    <a:lnTo>
                      <a:pt x="16891" y="1448054"/>
                    </a:lnTo>
                    <a:cubicBezTo>
                      <a:pt x="7493" y="1448054"/>
                      <a:pt x="0" y="1440434"/>
                      <a:pt x="0" y="1431163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431163"/>
                    </a:lnTo>
                    <a:lnTo>
                      <a:pt x="16891" y="1431163"/>
                    </a:lnTo>
                    <a:lnTo>
                      <a:pt x="16891" y="1414272"/>
                    </a:lnTo>
                    <a:lnTo>
                      <a:pt x="5137531" y="1414272"/>
                    </a:lnTo>
                    <a:lnTo>
                      <a:pt x="5137531" y="1431163"/>
                    </a:lnTo>
                    <a:lnTo>
                      <a:pt x="5120640" y="1431163"/>
                    </a:lnTo>
                    <a:lnTo>
                      <a:pt x="5120640" y="16891"/>
                    </a:lnTo>
                    <a:lnTo>
                      <a:pt x="5137531" y="16891"/>
                    </a:lnTo>
                    <a:lnTo>
                      <a:pt x="513753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2E44"/>
              </a:solidFill>
            </p:spPr>
          </p:sp>
        </p:grpSp>
        <p:grpSp>
          <p:nvGrpSpPr>
            <p:cNvPr name="Group 98" id="98"/>
            <p:cNvGrpSpPr/>
            <p:nvPr/>
          </p:nvGrpSpPr>
          <p:grpSpPr>
            <a:xfrm rot="0">
              <a:off x="260769" y="4315968"/>
              <a:ext cx="4632960" cy="1414272"/>
              <a:chOff x="0" y="0"/>
              <a:chExt cx="4632960" cy="1414272"/>
            </a:xfrm>
          </p:grpSpPr>
          <p:sp>
            <p:nvSpPr>
              <p:cNvPr name="Freeform 99" id="99"/>
              <p:cNvSpPr/>
              <p:nvPr/>
            </p:nvSpPr>
            <p:spPr>
              <a:xfrm flipH="false" flipV="false" rot="0">
                <a:off x="0" y="0"/>
                <a:ext cx="4632960" cy="1414272"/>
              </a:xfrm>
              <a:custGeom>
                <a:avLst/>
                <a:gdLst/>
                <a:ahLst/>
                <a:cxnLst/>
                <a:rect r="r" b="b" t="t" l="l"/>
                <a:pathLst>
                  <a:path h="1414272" w="4632960">
                    <a:moveTo>
                      <a:pt x="457200" y="0"/>
                    </a:moveTo>
                    <a:lnTo>
                      <a:pt x="4175760" y="0"/>
                    </a:lnTo>
                    <a:cubicBezTo>
                      <a:pt x="4428265" y="0"/>
                      <a:pt x="4632960" y="204695"/>
                      <a:pt x="4632960" y="457200"/>
                    </a:cubicBezTo>
                    <a:lnTo>
                      <a:pt x="4632960" y="957072"/>
                    </a:lnTo>
                    <a:cubicBezTo>
                      <a:pt x="4632960" y="1078329"/>
                      <a:pt x="4584791" y="1194620"/>
                      <a:pt x="4499049" y="1280361"/>
                    </a:cubicBezTo>
                    <a:cubicBezTo>
                      <a:pt x="4413307" y="1366103"/>
                      <a:pt x="4297017" y="1414272"/>
                      <a:pt x="4175760" y="1414272"/>
                    </a:cubicBezTo>
                    <a:lnTo>
                      <a:pt x="457200" y="1414272"/>
                    </a:lnTo>
                    <a:cubicBezTo>
                      <a:pt x="335943" y="1414272"/>
                      <a:pt x="219652" y="1366103"/>
                      <a:pt x="133911" y="1280361"/>
                    </a:cubicBezTo>
                    <a:cubicBezTo>
                      <a:pt x="48169" y="1194620"/>
                      <a:pt x="0" y="1078329"/>
                      <a:pt x="0" y="957072"/>
                    </a:cubicBezTo>
                    <a:lnTo>
                      <a:pt x="0" y="457200"/>
                    </a:ln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3830" r="0" b="-13830"/>
                </a:stretch>
              </a:blipFill>
            </p:spPr>
          </p:sp>
          <p:sp>
            <p:nvSpPr>
              <p:cNvPr name="TextBox 100" id="100"/>
              <p:cNvSpPr txBox="true"/>
              <p:nvPr/>
            </p:nvSpPr>
            <p:spPr>
              <a:xfrm>
                <a:off x="0" y="-47625"/>
                <a:ext cx="4632960" cy="146189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760"/>
                  </a:lnSpc>
                </a:pPr>
                <a:r>
                  <a:rPr lang="en-US" sz="2300">
                    <a:solidFill>
                      <a:srgbClr val="EF4444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✗ Manual (k)</a:t>
                </a:r>
              </a:p>
            </p:txBody>
          </p:sp>
        </p:grpSp>
        <p:grpSp>
          <p:nvGrpSpPr>
            <p:cNvPr name="Group 101" id="101"/>
            <p:cNvGrpSpPr/>
            <p:nvPr/>
          </p:nvGrpSpPr>
          <p:grpSpPr>
            <a:xfrm rot="0">
              <a:off x="0" y="5810847"/>
              <a:ext cx="5154511" cy="1448143"/>
              <a:chOff x="0" y="0"/>
              <a:chExt cx="5154511" cy="1448143"/>
            </a:xfrm>
          </p:grpSpPr>
          <p:sp>
            <p:nvSpPr>
              <p:cNvPr name="Freeform 102" id="102"/>
              <p:cNvSpPr/>
              <p:nvPr/>
            </p:nvSpPr>
            <p:spPr>
              <a:xfrm flipH="false" flipV="false" rot="0">
                <a:off x="16891" y="16891"/>
                <a:ext cx="5120640" cy="1414272"/>
              </a:xfrm>
              <a:custGeom>
                <a:avLst/>
                <a:gdLst/>
                <a:ahLst/>
                <a:cxnLst/>
                <a:rect r="r" b="b" t="t" l="l"/>
                <a:pathLst>
                  <a:path h="1414272" w="5120640">
                    <a:moveTo>
                      <a:pt x="0" y="0"/>
                    </a:moveTo>
                    <a:lnTo>
                      <a:pt x="5120640" y="0"/>
                    </a:lnTo>
                    <a:lnTo>
                      <a:pt x="5120640" y="1414272"/>
                    </a:lnTo>
                    <a:lnTo>
                      <a:pt x="0" y="1414272"/>
                    </a:lnTo>
                    <a:close/>
                  </a:path>
                </a:pathLst>
              </a:custGeom>
              <a:solidFill>
                <a:srgbClr val="13293F"/>
              </a:solidFill>
            </p:spPr>
          </p:sp>
          <p:sp>
            <p:nvSpPr>
              <p:cNvPr name="Freeform 103" id="103"/>
              <p:cNvSpPr/>
              <p:nvPr/>
            </p:nvSpPr>
            <p:spPr>
              <a:xfrm flipH="false" flipV="false" rot="0">
                <a:off x="0" y="0"/>
                <a:ext cx="5154422" cy="1448054"/>
              </a:xfrm>
              <a:custGeom>
                <a:avLst/>
                <a:gdLst/>
                <a:ahLst/>
                <a:cxnLst/>
                <a:rect r="r" b="b" t="t" l="l"/>
                <a:pathLst>
                  <a:path h="1448054" w="5154422">
                    <a:moveTo>
                      <a:pt x="16891" y="0"/>
                    </a:moveTo>
                    <a:lnTo>
                      <a:pt x="5137531" y="0"/>
                    </a:lnTo>
                    <a:cubicBezTo>
                      <a:pt x="5146929" y="0"/>
                      <a:pt x="5154422" y="7620"/>
                      <a:pt x="5154422" y="16891"/>
                    </a:cubicBezTo>
                    <a:lnTo>
                      <a:pt x="5154422" y="1431163"/>
                    </a:lnTo>
                    <a:cubicBezTo>
                      <a:pt x="5154422" y="1440561"/>
                      <a:pt x="5146802" y="1448054"/>
                      <a:pt x="5137531" y="1448054"/>
                    </a:cubicBezTo>
                    <a:lnTo>
                      <a:pt x="16891" y="1448054"/>
                    </a:lnTo>
                    <a:cubicBezTo>
                      <a:pt x="7493" y="1448054"/>
                      <a:pt x="0" y="1440434"/>
                      <a:pt x="0" y="1431163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431163"/>
                    </a:lnTo>
                    <a:lnTo>
                      <a:pt x="16891" y="1431163"/>
                    </a:lnTo>
                    <a:lnTo>
                      <a:pt x="16891" y="1414272"/>
                    </a:lnTo>
                    <a:lnTo>
                      <a:pt x="5137531" y="1414272"/>
                    </a:lnTo>
                    <a:lnTo>
                      <a:pt x="5137531" y="1431163"/>
                    </a:lnTo>
                    <a:lnTo>
                      <a:pt x="5120640" y="1431163"/>
                    </a:lnTo>
                    <a:lnTo>
                      <a:pt x="5120640" y="16891"/>
                    </a:lnTo>
                    <a:lnTo>
                      <a:pt x="5137531" y="16891"/>
                    </a:lnTo>
                    <a:lnTo>
                      <a:pt x="513753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2E44"/>
              </a:solidFill>
            </p:spPr>
          </p:sp>
        </p:grpSp>
        <p:grpSp>
          <p:nvGrpSpPr>
            <p:cNvPr name="Group 104" id="104"/>
            <p:cNvGrpSpPr/>
            <p:nvPr/>
          </p:nvGrpSpPr>
          <p:grpSpPr>
            <a:xfrm rot="0">
              <a:off x="260769" y="5827776"/>
              <a:ext cx="4632960" cy="1414272"/>
              <a:chOff x="0" y="0"/>
              <a:chExt cx="4632960" cy="1414272"/>
            </a:xfrm>
          </p:grpSpPr>
          <p:sp>
            <p:nvSpPr>
              <p:cNvPr name="Freeform 105" id="105"/>
              <p:cNvSpPr/>
              <p:nvPr/>
            </p:nvSpPr>
            <p:spPr>
              <a:xfrm flipH="false" flipV="false" rot="0">
                <a:off x="0" y="0"/>
                <a:ext cx="4632960" cy="1414272"/>
              </a:xfrm>
              <a:custGeom>
                <a:avLst/>
                <a:gdLst/>
                <a:ahLst/>
                <a:cxnLst/>
                <a:rect r="r" b="b" t="t" l="l"/>
                <a:pathLst>
                  <a:path h="1414272" w="4632960">
                    <a:moveTo>
                      <a:pt x="457200" y="0"/>
                    </a:moveTo>
                    <a:lnTo>
                      <a:pt x="4175760" y="0"/>
                    </a:lnTo>
                    <a:cubicBezTo>
                      <a:pt x="4428265" y="0"/>
                      <a:pt x="4632960" y="204695"/>
                      <a:pt x="4632960" y="457200"/>
                    </a:cubicBezTo>
                    <a:lnTo>
                      <a:pt x="4632960" y="957072"/>
                    </a:lnTo>
                    <a:cubicBezTo>
                      <a:pt x="4632960" y="1078329"/>
                      <a:pt x="4584791" y="1194620"/>
                      <a:pt x="4499049" y="1280361"/>
                    </a:cubicBezTo>
                    <a:cubicBezTo>
                      <a:pt x="4413307" y="1366103"/>
                      <a:pt x="4297017" y="1414272"/>
                      <a:pt x="4175760" y="1414272"/>
                    </a:cubicBezTo>
                    <a:lnTo>
                      <a:pt x="457200" y="1414272"/>
                    </a:lnTo>
                    <a:cubicBezTo>
                      <a:pt x="335943" y="1414272"/>
                      <a:pt x="219652" y="1366103"/>
                      <a:pt x="133911" y="1280361"/>
                    </a:cubicBezTo>
                    <a:cubicBezTo>
                      <a:pt x="48169" y="1194620"/>
                      <a:pt x="0" y="1078329"/>
                      <a:pt x="0" y="957072"/>
                    </a:cubicBezTo>
                    <a:lnTo>
                      <a:pt x="0" y="457200"/>
                    </a:ln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3830" r="0" b="-13830"/>
                </a:stretch>
              </a:blipFill>
            </p:spPr>
          </p:sp>
          <p:sp>
            <p:nvSpPr>
              <p:cNvPr name="TextBox 106" id="106"/>
              <p:cNvSpPr txBox="true"/>
              <p:nvPr/>
            </p:nvSpPr>
            <p:spPr>
              <a:xfrm>
                <a:off x="0" y="-47625"/>
                <a:ext cx="4632960" cy="146189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760"/>
                  </a:lnSpc>
                </a:pPr>
                <a:r>
                  <a:rPr lang="en-US" sz="2300">
                    <a:solidFill>
                      <a:srgbClr val="22C55E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✓ Large datasets</a:t>
                </a:r>
              </a:p>
            </p:txBody>
          </p:sp>
        </p:grpSp>
        <p:grpSp>
          <p:nvGrpSpPr>
            <p:cNvPr name="Group 107" id="107"/>
            <p:cNvGrpSpPr/>
            <p:nvPr/>
          </p:nvGrpSpPr>
          <p:grpSpPr>
            <a:xfrm rot="0">
              <a:off x="0" y="7322655"/>
              <a:ext cx="5154511" cy="1448143"/>
              <a:chOff x="0" y="0"/>
              <a:chExt cx="5154511" cy="1448143"/>
            </a:xfrm>
          </p:grpSpPr>
          <p:sp>
            <p:nvSpPr>
              <p:cNvPr name="Freeform 108" id="108"/>
              <p:cNvSpPr/>
              <p:nvPr/>
            </p:nvSpPr>
            <p:spPr>
              <a:xfrm flipH="false" flipV="false" rot="0">
                <a:off x="16891" y="16891"/>
                <a:ext cx="5120640" cy="1414272"/>
              </a:xfrm>
              <a:custGeom>
                <a:avLst/>
                <a:gdLst/>
                <a:ahLst/>
                <a:cxnLst/>
                <a:rect r="r" b="b" t="t" l="l"/>
                <a:pathLst>
                  <a:path h="1414272" w="5120640">
                    <a:moveTo>
                      <a:pt x="0" y="0"/>
                    </a:moveTo>
                    <a:lnTo>
                      <a:pt x="5120640" y="0"/>
                    </a:lnTo>
                    <a:lnTo>
                      <a:pt x="5120640" y="1414272"/>
                    </a:lnTo>
                    <a:lnTo>
                      <a:pt x="0" y="1414272"/>
                    </a:lnTo>
                    <a:close/>
                  </a:path>
                </a:pathLst>
              </a:custGeom>
              <a:solidFill>
                <a:srgbClr val="162033"/>
              </a:solidFill>
            </p:spPr>
          </p:sp>
          <p:sp>
            <p:nvSpPr>
              <p:cNvPr name="Freeform 109" id="109"/>
              <p:cNvSpPr/>
              <p:nvPr/>
            </p:nvSpPr>
            <p:spPr>
              <a:xfrm flipH="false" flipV="false" rot="0">
                <a:off x="0" y="0"/>
                <a:ext cx="5154422" cy="1448054"/>
              </a:xfrm>
              <a:custGeom>
                <a:avLst/>
                <a:gdLst/>
                <a:ahLst/>
                <a:cxnLst/>
                <a:rect r="r" b="b" t="t" l="l"/>
                <a:pathLst>
                  <a:path h="1448054" w="5154422">
                    <a:moveTo>
                      <a:pt x="16891" y="0"/>
                    </a:moveTo>
                    <a:lnTo>
                      <a:pt x="5137531" y="0"/>
                    </a:lnTo>
                    <a:cubicBezTo>
                      <a:pt x="5146929" y="0"/>
                      <a:pt x="5154422" y="7620"/>
                      <a:pt x="5154422" y="16891"/>
                    </a:cubicBezTo>
                    <a:lnTo>
                      <a:pt x="5154422" y="1431163"/>
                    </a:lnTo>
                    <a:cubicBezTo>
                      <a:pt x="5154422" y="1440561"/>
                      <a:pt x="5146802" y="1448054"/>
                      <a:pt x="5137531" y="1448054"/>
                    </a:cubicBezTo>
                    <a:lnTo>
                      <a:pt x="16891" y="1448054"/>
                    </a:lnTo>
                    <a:cubicBezTo>
                      <a:pt x="7493" y="1448054"/>
                      <a:pt x="0" y="1440434"/>
                      <a:pt x="0" y="1431163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431163"/>
                    </a:lnTo>
                    <a:lnTo>
                      <a:pt x="16891" y="1431163"/>
                    </a:lnTo>
                    <a:lnTo>
                      <a:pt x="16891" y="1414272"/>
                    </a:lnTo>
                    <a:lnTo>
                      <a:pt x="5137531" y="1414272"/>
                    </a:lnTo>
                    <a:lnTo>
                      <a:pt x="5137531" y="1431163"/>
                    </a:lnTo>
                    <a:lnTo>
                      <a:pt x="5120640" y="1431163"/>
                    </a:lnTo>
                    <a:lnTo>
                      <a:pt x="5120640" y="16891"/>
                    </a:lnTo>
                    <a:lnTo>
                      <a:pt x="5137531" y="16891"/>
                    </a:lnTo>
                    <a:lnTo>
                      <a:pt x="513753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2E44"/>
              </a:solidFill>
            </p:spPr>
          </p:sp>
        </p:grpSp>
        <p:grpSp>
          <p:nvGrpSpPr>
            <p:cNvPr name="Group 110" id="110"/>
            <p:cNvGrpSpPr/>
            <p:nvPr/>
          </p:nvGrpSpPr>
          <p:grpSpPr>
            <a:xfrm rot="0">
              <a:off x="260769" y="7339584"/>
              <a:ext cx="4632960" cy="1414272"/>
              <a:chOff x="0" y="0"/>
              <a:chExt cx="4632960" cy="1414272"/>
            </a:xfrm>
          </p:grpSpPr>
          <p:sp>
            <p:nvSpPr>
              <p:cNvPr name="Freeform 111" id="111"/>
              <p:cNvSpPr/>
              <p:nvPr/>
            </p:nvSpPr>
            <p:spPr>
              <a:xfrm flipH="false" flipV="false" rot="0">
                <a:off x="0" y="0"/>
                <a:ext cx="4632960" cy="1414272"/>
              </a:xfrm>
              <a:custGeom>
                <a:avLst/>
                <a:gdLst/>
                <a:ahLst/>
                <a:cxnLst/>
                <a:rect r="r" b="b" t="t" l="l"/>
                <a:pathLst>
                  <a:path h="1414272" w="4632960">
                    <a:moveTo>
                      <a:pt x="457200" y="0"/>
                    </a:moveTo>
                    <a:lnTo>
                      <a:pt x="4175760" y="0"/>
                    </a:lnTo>
                    <a:cubicBezTo>
                      <a:pt x="4428265" y="0"/>
                      <a:pt x="4632960" y="204695"/>
                      <a:pt x="4632960" y="457200"/>
                    </a:cubicBezTo>
                    <a:lnTo>
                      <a:pt x="4632960" y="957072"/>
                    </a:lnTo>
                    <a:cubicBezTo>
                      <a:pt x="4632960" y="1078329"/>
                      <a:pt x="4584791" y="1194620"/>
                      <a:pt x="4499049" y="1280361"/>
                    </a:cubicBezTo>
                    <a:cubicBezTo>
                      <a:pt x="4413307" y="1366103"/>
                      <a:pt x="4297017" y="1414272"/>
                      <a:pt x="4175760" y="1414272"/>
                    </a:cubicBezTo>
                    <a:lnTo>
                      <a:pt x="457200" y="1414272"/>
                    </a:lnTo>
                    <a:cubicBezTo>
                      <a:pt x="335943" y="1414272"/>
                      <a:pt x="219652" y="1366103"/>
                      <a:pt x="133911" y="1280361"/>
                    </a:cubicBezTo>
                    <a:cubicBezTo>
                      <a:pt x="48169" y="1194620"/>
                      <a:pt x="0" y="1078329"/>
                      <a:pt x="0" y="957072"/>
                    </a:cubicBezTo>
                    <a:lnTo>
                      <a:pt x="0" y="457200"/>
                    </a:ln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3830" r="0" b="-13830"/>
                </a:stretch>
              </a:blipFill>
            </p:spPr>
          </p:sp>
          <p:sp>
            <p:nvSpPr>
              <p:cNvPr name="TextBox 112" id="112"/>
              <p:cNvSpPr txBox="true"/>
              <p:nvPr/>
            </p:nvSpPr>
            <p:spPr>
              <a:xfrm>
                <a:off x="0" y="-47625"/>
                <a:ext cx="4632960" cy="146189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760"/>
                  </a:lnSpc>
                </a:pPr>
                <a:r>
                  <a:rPr lang="en-US" sz="2300">
                    <a:solidFill>
                      <a:srgbClr val="22C55E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✓ Easy</a:t>
                </a:r>
              </a:p>
            </p:txBody>
          </p:sp>
        </p:grpSp>
      </p:grpSp>
      <p:grpSp>
        <p:nvGrpSpPr>
          <p:cNvPr name="Group 113" id="113"/>
          <p:cNvGrpSpPr/>
          <p:nvPr/>
        </p:nvGrpSpPr>
        <p:grpSpPr>
          <a:xfrm rot="0">
            <a:off x="640080" y="9052560"/>
            <a:ext cx="17190720" cy="822960"/>
            <a:chOff x="0" y="0"/>
            <a:chExt cx="22920960" cy="109728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2920961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920961">
                  <a:moveTo>
                    <a:pt x="457200" y="0"/>
                  </a:moveTo>
                  <a:lnTo>
                    <a:pt x="22463761" y="0"/>
                  </a:lnTo>
                  <a:cubicBezTo>
                    <a:pt x="22585018" y="0"/>
                    <a:pt x="22701309" y="48169"/>
                    <a:pt x="22787049" y="133911"/>
                  </a:cubicBezTo>
                  <a:cubicBezTo>
                    <a:pt x="22872791" y="219652"/>
                    <a:pt x="22920961" y="335943"/>
                    <a:pt x="22920961" y="457200"/>
                  </a:cubicBezTo>
                  <a:lnTo>
                    <a:pt x="22920961" y="640080"/>
                  </a:lnTo>
                  <a:cubicBezTo>
                    <a:pt x="22920961" y="761337"/>
                    <a:pt x="22872791" y="877628"/>
                    <a:pt x="22787049" y="963369"/>
                  </a:cubicBezTo>
                  <a:cubicBezTo>
                    <a:pt x="22701309" y="1049111"/>
                    <a:pt x="22585018" y="1097280"/>
                    <a:pt x="22463761" y="1097280"/>
                  </a:cubicBezTo>
                  <a:lnTo>
                    <a:pt x="457200" y="1097280"/>
                  </a:lnTo>
                  <a:cubicBezTo>
                    <a:pt x="204695" y="1097280"/>
                    <a:pt x="0" y="892585"/>
                    <a:pt x="0" y="640080"/>
                  </a:cubicBezTo>
                  <a:lnTo>
                    <a:pt x="0" y="457200"/>
                  </a:lnTo>
                  <a:cubicBezTo>
                    <a:pt x="0" y="204695"/>
                    <a:pt x="204695" y="0"/>
                    <a:pt x="457200" y="0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7020" r="0" b="-35702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47625"/>
              <a:ext cx="2292096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23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DBSCAN is good when cluster shapes are irregular and noise/outliers are present. perfectly suited for real-world customer data.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6915352" y="9258300"/>
            <a:ext cx="687896" cy="687896"/>
            <a:chOff x="0" y="0"/>
            <a:chExt cx="917195" cy="917195"/>
          </a:xfrm>
        </p:grpSpPr>
        <p:grpSp>
          <p:nvGrpSpPr>
            <p:cNvPr name="Group 117" id="117"/>
            <p:cNvGrpSpPr/>
            <p:nvPr/>
          </p:nvGrpSpPr>
          <p:grpSpPr>
            <a:xfrm rot="0">
              <a:off x="0" y="0"/>
              <a:ext cx="917195" cy="917195"/>
              <a:chOff x="0" y="0"/>
              <a:chExt cx="812800" cy="812800"/>
            </a:xfrm>
          </p:grpSpPr>
          <p:sp>
            <p:nvSpPr>
              <p:cNvPr name="Freeform 118" id="1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9" id="119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20" id="120"/>
            <p:cNvSpPr txBox="true"/>
            <p:nvPr/>
          </p:nvSpPr>
          <p:spPr>
            <a:xfrm rot="0">
              <a:off x="66806" y="155131"/>
              <a:ext cx="783582" cy="559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2"/>
                </a:lnSpc>
              </a:pPr>
              <a:r>
                <a:rPr lang="en-US" sz="2544" b="true">
                  <a:solidFill>
                    <a:srgbClr val="FFFFFF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23</a:t>
              </a:r>
            </a:p>
          </p:txBody>
        </p:sp>
      </p:grpSp>
      <p:sp>
        <p:nvSpPr>
          <p:cNvPr name="TextBox 121" id="121"/>
          <p:cNvSpPr txBox="true"/>
          <p:nvPr/>
        </p:nvSpPr>
        <p:spPr>
          <a:xfrm rot="0">
            <a:off x="1028700" y="1007637"/>
            <a:ext cx="9570208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000000"/>
                </a:solidFill>
                <a:latin typeface="Bodoni FLF Bold"/>
                <a:ea typeface="Bodoni FLF Bold"/>
                <a:cs typeface="Bodoni FLF Bold"/>
                <a:sym typeface="Bodoni FLF Bold"/>
              </a:rPr>
              <a:t>ALGORITHM COMPARISON</a:t>
            </a:r>
          </a:p>
        </p:txBody>
      </p:sp>
      <p:sp>
        <p:nvSpPr>
          <p:cNvPr name="AutoShape 122" id="122"/>
          <p:cNvSpPr/>
          <p:nvPr/>
        </p:nvSpPr>
        <p:spPr>
          <a:xfrm>
            <a:off x="1028700" y="1028700"/>
            <a:ext cx="6664879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09728" cy="10287000"/>
            <a:chOff x="0" y="0"/>
            <a:chExt cx="146304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C51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412889" y="1432706"/>
            <a:ext cx="9606076" cy="585216"/>
            <a:chOff x="0" y="0"/>
            <a:chExt cx="12808101" cy="7802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08100" cy="780288"/>
            </a:xfrm>
            <a:custGeom>
              <a:avLst/>
              <a:gdLst/>
              <a:ahLst/>
              <a:cxnLst/>
              <a:rect r="r" b="b" t="t" l="l"/>
              <a:pathLst>
                <a:path h="780288" w="12808100">
                  <a:moveTo>
                    <a:pt x="0" y="0"/>
                  </a:moveTo>
                  <a:lnTo>
                    <a:pt x="12808100" y="0"/>
                  </a:lnTo>
                  <a:lnTo>
                    <a:pt x="128081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7571" r="-61822" b="-46757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2808101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spc="1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: </a:t>
              </a:r>
              <a:r>
                <a:rPr lang="en-US" sz="2799" spc="1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DBSCAN for Customer Segmentation-What We Learned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53063" y="2218439"/>
            <a:ext cx="17581883" cy="2037083"/>
            <a:chOff x="0" y="0"/>
            <a:chExt cx="23442511" cy="27161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6891" y="16891"/>
              <a:ext cx="2340863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02169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44242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3442422">
                  <a:moveTo>
                    <a:pt x="16891" y="0"/>
                  </a:moveTo>
                  <a:lnTo>
                    <a:pt x="23425530" y="0"/>
                  </a:lnTo>
                  <a:cubicBezTo>
                    <a:pt x="23434929" y="0"/>
                    <a:pt x="23442422" y="7620"/>
                    <a:pt x="23442422" y="16891"/>
                  </a:cubicBezTo>
                  <a:lnTo>
                    <a:pt x="23442422" y="2699131"/>
                  </a:lnTo>
                  <a:cubicBezTo>
                    <a:pt x="23442422" y="2708529"/>
                    <a:pt x="23434802" y="2716022"/>
                    <a:pt x="2342553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3425530" y="2682240"/>
                  </a:lnTo>
                  <a:lnTo>
                    <a:pt x="23425530" y="2699131"/>
                  </a:lnTo>
                  <a:lnTo>
                    <a:pt x="23408639" y="2699131"/>
                  </a:lnTo>
                  <a:lnTo>
                    <a:pt x="23408639" y="16891"/>
                  </a:lnTo>
                  <a:lnTo>
                    <a:pt x="23425530" y="16891"/>
                  </a:lnTo>
                  <a:lnTo>
                    <a:pt x="234255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2C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2231136"/>
            <a:ext cx="16824960" cy="2011680"/>
            <a:chOff x="0" y="0"/>
            <a:chExt cx="22433280" cy="26822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4332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965" r="0" b="-11296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2433280" cy="2739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DBSCAN identified meaningful customer segments without pre-defining cluster count. shows the power of density-based learning on real retail data.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65760" y="4535424"/>
            <a:ext cx="1188720" cy="1371600"/>
            <a:chOff x="0" y="0"/>
            <a:chExt cx="1584960" cy="1828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849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0C2C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65760" y="4535424"/>
            <a:ext cx="1188720" cy="1371600"/>
            <a:chOff x="0" y="0"/>
            <a:chExt cx="1584960" cy="182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849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8042" t="0" r="-98042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158496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828800" y="4535424"/>
            <a:ext cx="4572000" cy="694944"/>
            <a:chOff x="0" y="0"/>
            <a:chExt cx="6096000" cy="92659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096000" cy="926592"/>
            </a:xfrm>
            <a:custGeom>
              <a:avLst/>
              <a:gdLst/>
              <a:ahLst/>
              <a:cxnLst/>
              <a:rect r="r" b="b" t="t" l="l"/>
              <a:pathLst>
                <a:path h="92659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191" r="0" b="-7819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609600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Algorithm Strength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828800" y="5138928"/>
            <a:ext cx="15910560" cy="768096"/>
            <a:chOff x="0" y="0"/>
            <a:chExt cx="21214080" cy="102412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2140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3618" r="0" b="-35361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212140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0A19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DBSCAN outperforms K-Means for irregular, noise-prone customer data. No need to guess k.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53063" y="5949191"/>
            <a:ext cx="17581883" cy="25403"/>
            <a:chOff x="0" y="0"/>
            <a:chExt cx="23442511" cy="3387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0"/>
              <a:ext cx="23408639" cy="33909"/>
            </a:xfrm>
            <a:custGeom>
              <a:avLst/>
              <a:gdLst/>
              <a:ahLst/>
              <a:cxnLst/>
              <a:rect r="r" b="b" t="t" l="l"/>
              <a:pathLst>
                <a:path h="33909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1E2E44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65760" y="6327648"/>
            <a:ext cx="1188720" cy="1371600"/>
            <a:chOff x="0" y="0"/>
            <a:chExt cx="1584960" cy="1828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849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7B61F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365760" y="6327648"/>
            <a:ext cx="1188720" cy="1371600"/>
            <a:chOff x="0" y="0"/>
            <a:chExt cx="1584960" cy="1828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849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8042" t="0" r="-98042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158496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828800" y="6327648"/>
            <a:ext cx="4572000" cy="694944"/>
            <a:chOff x="0" y="0"/>
            <a:chExt cx="6096000" cy="92659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096000" cy="926592"/>
            </a:xfrm>
            <a:custGeom>
              <a:avLst/>
              <a:gdLst/>
              <a:ahLst/>
              <a:cxnLst/>
              <a:rect r="r" b="b" t="t" l="l"/>
              <a:pathLst>
                <a:path h="92659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191" r="0" b="-7819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609600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7B61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Rob</a:t>
              </a:r>
              <a:r>
                <a:rPr lang="en-US" sz="2700" b="true">
                  <a:solidFill>
                    <a:srgbClr val="7B61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ust to noise and outliers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828800" y="6931152"/>
            <a:ext cx="15910560" cy="768096"/>
            <a:chOff x="0" y="0"/>
            <a:chExt cx="21214080" cy="102412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2140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3618" r="0" b="-35361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212140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0A19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</a:t>
              </a:r>
              <a:r>
                <a:rPr lang="en-US" sz="2300">
                  <a:solidFill>
                    <a:srgbClr val="0A19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 naturally identifies and separates noise points (outliers) that do not belong to any cluster, improving clustering quality.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53063" y="7741415"/>
            <a:ext cx="17581883" cy="25403"/>
            <a:chOff x="0" y="0"/>
            <a:chExt cx="23442511" cy="3387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0"/>
              <a:ext cx="23408639" cy="33909"/>
            </a:xfrm>
            <a:custGeom>
              <a:avLst/>
              <a:gdLst/>
              <a:ahLst/>
              <a:cxnLst/>
              <a:rect r="r" b="b" t="t" l="l"/>
              <a:pathLst>
                <a:path h="33909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1E2E44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365760" y="8119872"/>
            <a:ext cx="1188720" cy="1371600"/>
            <a:chOff x="0" y="0"/>
            <a:chExt cx="1584960" cy="1828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5849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5C518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365760" y="8119872"/>
            <a:ext cx="1188720" cy="1371600"/>
            <a:chOff x="0" y="0"/>
            <a:chExt cx="1584960" cy="1828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5849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8042" t="0" r="-98042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66675"/>
              <a:ext cx="158496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811655" y="8043043"/>
            <a:ext cx="4572000" cy="694944"/>
            <a:chOff x="0" y="0"/>
            <a:chExt cx="6096000" cy="9265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096000" cy="926592"/>
            </a:xfrm>
            <a:custGeom>
              <a:avLst/>
              <a:gdLst/>
              <a:ahLst/>
              <a:cxnLst/>
              <a:rect r="r" b="b" t="t" l="l"/>
              <a:pathLst>
                <a:path h="92659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191" r="0" b="-7819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609600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5C51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Sensi</a:t>
              </a:r>
              <a:r>
                <a:rPr lang="en-US" sz="2700" b="true">
                  <a:solidFill>
                    <a:srgbClr val="F5C51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tive to parameters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811655" y="8719318"/>
            <a:ext cx="13207310" cy="799189"/>
            <a:chOff x="0" y="0"/>
            <a:chExt cx="17609747" cy="106558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7609747" cy="1065585"/>
            </a:xfrm>
            <a:custGeom>
              <a:avLst/>
              <a:gdLst/>
              <a:ahLst/>
              <a:cxnLst/>
              <a:rect r="r" b="b" t="t" l="l"/>
              <a:pathLst>
                <a:path h="1065585" w="17609747">
                  <a:moveTo>
                    <a:pt x="0" y="0"/>
                  </a:moveTo>
                  <a:lnTo>
                    <a:pt x="17609747" y="0"/>
                  </a:lnTo>
                  <a:lnTo>
                    <a:pt x="17609747" y="1065585"/>
                  </a:lnTo>
                  <a:lnTo>
                    <a:pt x="0" y="106558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861" r="-20467" b="-33597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7609747" cy="1113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0A19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resul</a:t>
              </a:r>
              <a:r>
                <a:rPr lang="en-US" sz="2300">
                  <a:solidFill>
                    <a:srgbClr val="0A19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ts depend heavily on the choice of parameters (ε and MinPts), and it may struggle with datasets that have varying densities.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6915352" y="9258300"/>
            <a:ext cx="687896" cy="687896"/>
            <a:chOff x="0" y="0"/>
            <a:chExt cx="917195" cy="917195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0" y="0"/>
              <a:ext cx="917195" cy="917195"/>
              <a:chOff x="0" y="0"/>
              <a:chExt cx="812800" cy="8128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54" id="54"/>
            <p:cNvSpPr txBox="true"/>
            <p:nvPr/>
          </p:nvSpPr>
          <p:spPr>
            <a:xfrm rot="0">
              <a:off x="66806" y="155131"/>
              <a:ext cx="783582" cy="559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2"/>
                </a:lnSpc>
              </a:pPr>
              <a:r>
                <a:rPr lang="en-US" sz="2544" b="true">
                  <a:solidFill>
                    <a:srgbClr val="FFFFFF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24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028700" y="1007637"/>
            <a:ext cx="9570208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000000"/>
                </a:solidFill>
                <a:latin typeface="Bodoni FLF Bold"/>
                <a:ea typeface="Bodoni FLF Bold"/>
                <a:cs typeface="Bodoni FLF Bold"/>
                <a:sym typeface="Bodoni FLF Bold"/>
              </a:rPr>
              <a:t>CONCLUSION</a:t>
            </a:r>
          </a:p>
        </p:txBody>
      </p:sp>
      <p:sp>
        <p:nvSpPr>
          <p:cNvPr name="AutoShape 56" id="56"/>
          <p:cNvSpPr/>
          <p:nvPr/>
        </p:nvSpPr>
        <p:spPr>
          <a:xfrm>
            <a:off x="1028700" y="1028700"/>
            <a:ext cx="6664879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28488" y="3171982"/>
            <a:ext cx="12831025" cy="357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https://cdn.aaai.org/KDD/1996/KDD96-037.pdf</a:t>
            </a:r>
          </a:p>
          <a:p>
            <a:pPr algn="l">
              <a:lnSpc>
                <a:spcPts val="4060"/>
              </a:lnSpc>
            </a:pP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https://youtu.be/_A9Tq6mGtLI?si=hCPwG4iZ3QexHiJS</a:t>
            </a:r>
          </a:p>
          <a:p>
            <a:pPr algn="l">
              <a:lnSpc>
                <a:spcPts val="4060"/>
              </a:lnSpc>
            </a:pP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https://youtu.be/RDZUdRSDOok?si=3OO-uG8wIX7OLzkS</a:t>
            </a:r>
          </a:p>
          <a:p>
            <a:pPr algn="l">
              <a:lnSpc>
                <a:spcPts val="4060"/>
              </a:lnSpc>
            </a:pP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https://scikit-learn.org/stable/modules/generated/sklearn.cluster.DBSCAN.html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007637"/>
            <a:ext cx="9570208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000000"/>
                </a:solidFill>
                <a:latin typeface="Bodoni FLF Bold"/>
                <a:ea typeface="Bodoni FLF Bold"/>
                <a:cs typeface="Bodoni FLF Bold"/>
                <a:sym typeface="Bodoni FLF Bold"/>
              </a:rPr>
              <a:t>REFERENCES:</a:t>
            </a:r>
          </a:p>
        </p:txBody>
      </p:sp>
      <p:sp>
        <p:nvSpPr>
          <p:cNvPr name="AutoShape 4" id="4"/>
          <p:cNvSpPr/>
          <p:nvPr/>
        </p:nvSpPr>
        <p:spPr>
          <a:xfrm>
            <a:off x="1028700" y="1028700"/>
            <a:ext cx="6664879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grpSp>
        <p:nvGrpSpPr>
          <p:cNvPr name="Group 5" id="5"/>
          <p:cNvGrpSpPr/>
          <p:nvPr/>
        </p:nvGrpSpPr>
        <p:grpSpPr>
          <a:xfrm rot="0">
            <a:off x="16915352" y="9258300"/>
            <a:ext cx="687896" cy="687896"/>
            <a:chOff x="0" y="0"/>
            <a:chExt cx="917195" cy="917195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917195" cy="917195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66806" y="155131"/>
              <a:ext cx="783582" cy="559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2"/>
                </a:lnSpc>
              </a:pPr>
              <a:r>
                <a:rPr lang="en-US" sz="2544" b="true">
                  <a:solidFill>
                    <a:srgbClr val="FFFFFF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27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40788" y="3698255"/>
            <a:ext cx="10606424" cy="209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79"/>
              </a:lnSpc>
            </a:pPr>
            <a:r>
              <a:rPr lang="en-US" b="true" sz="11699">
                <a:solidFill>
                  <a:srgbClr val="000000"/>
                </a:solidFill>
                <a:latin typeface="Bodoni FLF Bold"/>
                <a:ea typeface="Bodoni FLF Bold"/>
                <a:cs typeface="Bodoni FLF Bold"/>
                <a:sym typeface="Bodoni FLF Bold"/>
              </a:rPr>
              <a:t>THANK YOU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915352" y="9258300"/>
            <a:ext cx="687896" cy="687896"/>
            <a:chOff x="0" y="0"/>
            <a:chExt cx="917195" cy="917195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17195" cy="917195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66806" y="155131"/>
              <a:ext cx="783582" cy="559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2"/>
                </a:lnSpc>
              </a:pPr>
              <a:r>
                <a:rPr lang="en-US" sz="2544" b="true">
                  <a:solidFill>
                    <a:srgbClr val="FFFFFF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28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DAHFau0pjTM</dc:identifier>
  <dcterms:modified xsi:type="dcterms:W3CDTF">2011-08-01T06:04:30Z</dcterms:modified>
  <cp:revision>1</cp:revision>
  <dc:title>DBSCAN</dc:title>
</cp:coreProperties>
</file>